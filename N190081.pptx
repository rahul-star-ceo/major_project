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4630400" cy="8229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0" name="Shape 170"/>
          <p:cNvSpPr/>
          <p:nvPr>
            <p:ph type="sldImg"/>
          </p:nvPr>
        </p:nvSpPr>
        <p:spPr>
          <a:xfrm>
            <a:off x="1143000" y="685800"/>
            <a:ext cx="4572000" cy="3429000"/>
          </a:xfrm>
          <a:prstGeom prst="rect">
            <a:avLst/>
          </a:prstGeom>
        </p:spPr>
        <p:txBody>
          <a:bodyPr/>
          <a:lstStyle/>
          <a:p>
            <a:pPr/>
          </a:p>
        </p:txBody>
      </p:sp>
      <p:sp>
        <p:nvSpPr>
          <p:cNvPr id="171" name="Shape 171"/>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 master">
    <p:bg>
      <p:bgPr>
        <a:solidFill>
          <a:srgbClr val="000000"/>
        </a:solidFill>
      </p:bgPr>
    </p:bg>
    <p:spTree>
      <p:nvGrpSpPr>
        <p:cNvPr id="1" name=""/>
        <p:cNvGrpSpPr/>
        <p:nvPr/>
      </p:nvGrpSpPr>
      <p:grpSpPr>
        <a:xfrm>
          <a:off x="0" y="0"/>
          <a:ext cx="0" cy="0"/>
          <a:chOff x="0" y="0"/>
          <a:chExt cx="0" cy="0"/>
        </a:xfrm>
      </p:grpSpPr>
      <p:sp>
        <p:nvSpPr>
          <p:cNvPr id="18" name="Shape 0"/>
          <p:cNvSpPr/>
          <p:nvPr/>
        </p:nvSpPr>
        <p:spPr>
          <a:xfrm>
            <a:off x="0" y="0"/>
            <a:ext cx="14630400" cy="8229600"/>
          </a:xfrm>
          <a:prstGeom prst="rect">
            <a:avLst/>
          </a:prstGeom>
          <a:solidFill>
            <a:srgbClr val="FAF2E9"/>
          </a:solidFill>
          <a:ln w="12700">
            <a:miter lim="400000"/>
          </a:ln>
        </p:spPr>
        <p:txBody>
          <a:bodyPr lIns="45719" rIns="45719"/>
          <a:lstStyle/>
          <a:p>
            <a:pPr/>
          </a:p>
        </p:txBody>
      </p:sp>
      <p:sp>
        <p:nvSpPr>
          <p:cNvPr id="19" name="Shape 1"/>
          <p:cNvSpPr/>
          <p:nvPr/>
        </p:nvSpPr>
        <p:spPr>
          <a:xfrm>
            <a:off x="0" y="0"/>
            <a:ext cx="14630400" cy="8229600"/>
          </a:xfrm>
          <a:prstGeom prst="rect">
            <a:avLst/>
          </a:prstGeom>
          <a:solidFill>
            <a:srgbClr val="FDFAF7"/>
          </a:solidFill>
          <a:ln w="12700">
            <a:miter lim="400000"/>
          </a:ln>
        </p:spPr>
        <p:txBody>
          <a:bodyPr lIns="45719" rIns="45719"/>
          <a:lstStyle/>
          <a:p>
            <a:pPr/>
          </a:p>
        </p:txBody>
      </p:sp>
      <p:sp>
        <p:nvSpPr>
          <p:cNvPr id="2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 master">
    <p:bg>
      <p:bgPr>
        <a:solidFill>
          <a:srgbClr val="000000"/>
        </a:solidFill>
      </p:bgPr>
    </p:bg>
    <p:spTree>
      <p:nvGrpSpPr>
        <p:cNvPr id="1" name=""/>
        <p:cNvGrpSpPr/>
        <p:nvPr/>
      </p:nvGrpSpPr>
      <p:grpSpPr>
        <a:xfrm>
          <a:off x="0" y="0"/>
          <a:ext cx="0" cy="0"/>
          <a:chOff x="0" y="0"/>
          <a:chExt cx="0" cy="0"/>
        </a:xfrm>
      </p:grpSpPr>
      <p:sp>
        <p:nvSpPr>
          <p:cNvPr id="27" name="Shape 0"/>
          <p:cNvSpPr/>
          <p:nvPr/>
        </p:nvSpPr>
        <p:spPr>
          <a:xfrm>
            <a:off x="0" y="0"/>
            <a:ext cx="14630400" cy="8229600"/>
          </a:xfrm>
          <a:prstGeom prst="rect">
            <a:avLst/>
          </a:prstGeom>
          <a:solidFill>
            <a:srgbClr val="FAF2E9"/>
          </a:solidFill>
          <a:ln w="12700">
            <a:miter lim="400000"/>
          </a:ln>
        </p:spPr>
        <p:txBody>
          <a:bodyPr lIns="45719" rIns="45719"/>
          <a:lstStyle/>
          <a:p>
            <a:pPr/>
          </a:p>
        </p:txBody>
      </p:sp>
      <p:sp>
        <p:nvSpPr>
          <p:cNvPr id="28" name="Shape 1"/>
          <p:cNvSpPr/>
          <p:nvPr/>
        </p:nvSpPr>
        <p:spPr>
          <a:xfrm>
            <a:off x="0" y="0"/>
            <a:ext cx="14630400" cy="8229600"/>
          </a:xfrm>
          <a:prstGeom prst="rect">
            <a:avLst/>
          </a:prstGeom>
          <a:solidFill>
            <a:srgbClr val="FDFAF7"/>
          </a:solidFill>
          <a:ln w="12700">
            <a:miter lim="400000"/>
          </a:ln>
        </p:spPr>
        <p:txBody>
          <a:bodyPr lIns="45719" rIns="45719"/>
          <a:lstStyle/>
          <a:p>
            <a:pPr/>
          </a:p>
        </p:txBody>
      </p:sp>
      <p:sp>
        <p:nvSpPr>
          <p:cNvPr id="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3 master">
    <p:bg>
      <p:bgPr>
        <a:solidFill>
          <a:srgbClr val="000000"/>
        </a:solidFill>
      </p:bgPr>
    </p:bg>
    <p:spTree>
      <p:nvGrpSpPr>
        <p:cNvPr id="1" name=""/>
        <p:cNvGrpSpPr/>
        <p:nvPr/>
      </p:nvGrpSpPr>
      <p:grpSpPr>
        <a:xfrm>
          <a:off x="0" y="0"/>
          <a:ext cx="0" cy="0"/>
          <a:chOff x="0" y="0"/>
          <a:chExt cx="0" cy="0"/>
        </a:xfrm>
      </p:grpSpPr>
      <p:sp>
        <p:nvSpPr>
          <p:cNvPr id="36" name="Shape 0"/>
          <p:cNvSpPr/>
          <p:nvPr/>
        </p:nvSpPr>
        <p:spPr>
          <a:xfrm>
            <a:off x="0" y="0"/>
            <a:ext cx="14630400" cy="8229600"/>
          </a:xfrm>
          <a:prstGeom prst="rect">
            <a:avLst/>
          </a:prstGeom>
          <a:solidFill>
            <a:srgbClr val="FAF2E9"/>
          </a:solidFill>
          <a:ln w="12700">
            <a:miter lim="400000"/>
          </a:ln>
        </p:spPr>
        <p:txBody>
          <a:bodyPr lIns="45719" rIns="45719"/>
          <a:lstStyle/>
          <a:p>
            <a:pPr/>
          </a:p>
        </p:txBody>
      </p:sp>
      <p:sp>
        <p:nvSpPr>
          <p:cNvPr id="37" name="Shape 1"/>
          <p:cNvSpPr/>
          <p:nvPr/>
        </p:nvSpPr>
        <p:spPr>
          <a:xfrm>
            <a:off x="0" y="0"/>
            <a:ext cx="14630400" cy="8229600"/>
          </a:xfrm>
          <a:prstGeom prst="rect">
            <a:avLst/>
          </a:prstGeom>
          <a:solidFill>
            <a:srgbClr val="FDFAF7"/>
          </a:solidFill>
          <a:ln w="12700">
            <a:miter lim="400000"/>
          </a:ln>
        </p:spPr>
        <p:txBody>
          <a:bodyPr lIns="45719" rIns="45719"/>
          <a:lstStyle/>
          <a:p>
            <a:pPr/>
          </a:p>
        </p:txBody>
      </p:sp>
      <p:sp>
        <p:nvSpPr>
          <p:cNvPr id="3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4 master">
    <p:bg>
      <p:bgPr>
        <a:solidFill>
          <a:srgbClr val="000000"/>
        </a:solidFill>
      </p:bgPr>
    </p:bg>
    <p:spTree>
      <p:nvGrpSpPr>
        <p:cNvPr id="1" name=""/>
        <p:cNvGrpSpPr/>
        <p:nvPr/>
      </p:nvGrpSpPr>
      <p:grpSpPr>
        <a:xfrm>
          <a:off x="0" y="0"/>
          <a:ext cx="0" cy="0"/>
          <a:chOff x="0" y="0"/>
          <a:chExt cx="0" cy="0"/>
        </a:xfrm>
      </p:grpSpPr>
      <p:sp>
        <p:nvSpPr>
          <p:cNvPr id="45" name="Shape 0"/>
          <p:cNvSpPr/>
          <p:nvPr/>
        </p:nvSpPr>
        <p:spPr>
          <a:xfrm>
            <a:off x="0" y="0"/>
            <a:ext cx="14630400" cy="8229600"/>
          </a:xfrm>
          <a:prstGeom prst="rect">
            <a:avLst/>
          </a:prstGeom>
          <a:solidFill>
            <a:srgbClr val="FAF2E9"/>
          </a:solidFill>
          <a:ln w="12700">
            <a:miter lim="400000"/>
          </a:ln>
        </p:spPr>
        <p:txBody>
          <a:bodyPr lIns="45719" rIns="45719"/>
          <a:lstStyle/>
          <a:p>
            <a:pPr/>
          </a:p>
        </p:txBody>
      </p:sp>
      <p:sp>
        <p:nvSpPr>
          <p:cNvPr id="46" name="Shape 1"/>
          <p:cNvSpPr/>
          <p:nvPr/>
        </p:nvSpPr>
        <p:spPr>
          <a:xfrm>
            <a:off x="0" y="0"/>
            <a:ext cx="14630400" cy="8229600"/>
          </a:xfrm>
          <a:prstGeom prst="rect">
            <a:avLst/>
          </a:prstGeom>
          <a:solidFill>
            <a:srgbClr val="FDFAF7"/>
          </a:solidFill>
          <a:ln w="12700">
            <a:miter lim="400000"/>
          </a:ln>
        </p:spPr>
        <p:txBody>
          <a:bodyPr lIns="45719" rIns="45719"/>
          <a:lstStyle/>
          <a:p>
            <a:pPr/>
          </a:p>
        </p:txBody>
      </p:sp>
      <p:sp>
        <p:nvSpPr>
          <p:cNvPr id="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5 master">
    <p:bg>
      <p:bgPr>
        <a:solidFill>
          <a:srgbClr val="000000"/>
        </a:solidFill>
      </p:bgPr>
    </p:bg>
    <p:spTree>
      <p:nvGrpSpPr>
        <p:cNvPr id="1" name=""/>
        <p:cNvGrpSpPr/>
        <p:nvPr/>
      </p:nvGrpSpPr>
      <p:grpSpPr>
        <a:xfrm>
          <a:off x="0" y="0"/>
          <a:ext cx="0" cy="0"/>
          <a:chOff x="0" y="0"/>
          <a:chExt cx="0" cy="0"/>
        </a:xfrm>
      </p:grpSpPr>
      <p:sp>
        <p:nvSpPr>
          <p:cNvPr id="54" name="Shape 0"/>
          <p:cNvSpPr/>
          <p:nvPr/>
        </p:nvSpPr>
        <p:spPr>
          <a:xfrm>
            <a:off x="0" y="0"/>
            <a:ext cx="14630400" cy="8229600"/>
          </a:xfrm>
          <a:prstGeom prst="rect">
            <a:avLst/>
          </a:prstGeom>
          <a:solidFill>
            <a:srgbClr val="FAF2E9"/>
          </a:solidFill>
          <a:ln w="12700">
            <a:miter lim="400000"/>
          </a:ln>
        </p:spPr>
        <p:txBody>
          <a:bodyPr lIns="45719" rIns="45719"/>
          <a:lstStyle/>
          <a:p>
            <a:pPr/>
          </a:p>
        </p:txBody>
      </p:sp>
      <p:sp>
        <p:nvSpPr>
          <p:cNvPr id="55" name="Shape 1"/>
          <p:cNvSpPr/>
          <p:nvPr/>
        </p:nvSpPr>
        <p:spPr>
          <a:xfrm>
            <a:off x="0" y="0"/>
            <a:ext cx="14630400" cy="8229600"/>
          </a:xfrm>
          <a:prstGeom prst="rect">
            <a:avLst/>
          </a:prstGeom>
          <a:solidFill>
            <a:srgbClr val="FDFAF7"/>
          </a:solidFill>
          <a:ln w="12700">
            <a:miter lim="400000"/>
          </a:ln>
        </p:spPr>
        <p:txBody>
          <a:bodyPr lIns="45719" rIns="45719"/>
          <a:lstStyle/>
          <a:p>
            <a:pPr/>
          </a:p>
        </p:txBody>
      </p:sp>
      <p:sp>
        <p:nvSpPr>
          <p:cNvPr id="5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6 master">
    <p:bg>
      <p:bgPr>
        <a:solidFill>
          <a:srgbClr val="000000"/>
        </a:solidFill>
      </p:bgPr>
    </p:bg>
    <p:spTree>
      <p:nvGrpSpPr>
        <p:cNvPr id="1" name=""/>
        <p:cNvGrpSpPr/>
        <p:nvPr/>
      </p:nvGrpSpPr>
      <p:grpSpPr>
        <a:xfrm>
          <a:off x="0" y="0"/>
          <a:ext cx="0" cy="0"/>
          <a:chOff x="0" y="0"/>
          <a:chExt cx="0" cy="0"/>
        </a:xfrm>
      </p:grpSpPr>
      <p:sp>
        <p:nvSpPr>
          <p:cNvPr id="63" name="Shape 0"/>
          <p:cNvSpPr/>
          <p:nvPr/>
        </p:nvSpPr>
        <p:spPr>
          <a:xfrm>
            <a:off x="0" y="0"/>
            <a:ext cx="14630400" cy="8229600"/>
          </a:xfrm>
          <a:prstGeom prst="rect">
            <a:avLst/>
          </a:prstGeom>
          <a:solidFill>
            <a:srgbClr val="FAF2E9"/>
          </a:solidFill>
          <a:ln w="12700">
            <a:miter lim="400000"/>
          </a:ln>
        </p:spPr>
        <p:txBody>
          <a:bodyPr lIns="45719" rIns="45719"/>
          <a:lstStyle/>
          <a:p>
            <a:pPr/>
          </a:p>
        </p:txBody>
      </p:sp>
      <p:sp>
        <p:nvSpPr>
          <p:cNvPr id="64" name="Shape 1"/>
          <p:cNvSpPr/>
          <p:nvPr/>
        </p:nvSpPr>
        <p:spPr>
          <a:xfrm>
            <a:off x="0" y="0"/>
            <a:ext cx="14630400" cy="8229600"/>
          </a:xfrm>
          <a:prstGeom prst="rect">
            <a:avLst/>
          </a:prstGeom>
          <a:solidFill>
            <a:srgbClr val="FDFAF7"/>
          </a:solidFill>
          <a:ln w="12700">
            <a:miter lim="400000"/>
          </a:ln>
        </p:spPr>
        <p:txBody>
          <a:bodyPr lIns="45719" rIns="45719"/>
          <a:lstStyle/>
          <a:p>
            <a:pPr/>
          </a:p>
        </p:txBody>
      </p:sp>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7 master">
    <p:bg>
      <p:bgPr>
        <a:solidFill>
          <a:srgbClr val="000000"/>
        </a:solidFill>
      </p:bgPr>
    </p:bg>
    <p:spTree>
      <p:nvGrpSpPr>
        <p:cNvPr id="1" name=""/>
        <p:cNvGrpSpPr/>
        <p:nvPr/>
      </p:nvGrpSpPr>
      <p:grpSpPr>
        <a:xfrm>
          <a:off x="0" y="0"/>
          <a:ext cx="0" cy="0"/>
          <a:chOff x="0" y="0"/>
          <a:chExt cx="0" cy="0"/>
        </a:xfrm>
      </p:grpSpPr>
      <p:sp>
        <p:nvSpPr>
          <p:cNvPr id="72" name="Shape 0"/>
          <p:cNvSpPr/>
          <p:nvPr/>
        </p:nvSpPr>
        <p:spPr>
          <a:xfrm>
            <a:off x="0" y="0"/>
            <a:ext cx="14630400" cy="8229600"/>
          </a:xfrm>
          <a:prstGeom prst="rect">
            <a:avLst/>
          </a:prstGeom>
          <a:solidFill>
            <a:srgbClr val="FAF2E9"/>
          </a:solidFill>
          <a:ln w="12700">
            <a:miter lim="400000"/>
          </a:ln>
        </p:spPr>
        <p:txBody>
          <a:bodyPr lIns="45719" rIns="45719"/>
          <a:lstStyle/>
          <a:p>
            <a:pPr/>
          </a:p>
        </p:txBody>
      </p:sp>
      <p:sp>
        <p:nvSpPr>
          <p:cNvPr id="73" name="Shape 1"/>
          <p:cNvSpPr/>
          <p:nvPr/>
        </p:nvSpPr>
        <p:spPr>
          <a:xfrm>
            <a:off x="0" y="0"/>
            <a:ext cx="14630400" cy="8229600"/>
          </a:xfrm>
          <a:prstGeom prst="rect">
            <a:avLst/>
          </a:prstGeom>
          <a:solidFill>
            <a:srgbClr val="FDFAF7"/>
          </a:solidFill>
          <a:ln w="12700">
            <a:miter lim="400000"/>
          </a:ln>
        </p:spPr>
        <p:txBody>
          <a:bodyPr lIns="45719" rIns="45719"/>
          <a:lstStyle/>
          <a:p>
            <a:pP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8 master">
    <p:bg>
      <p:bgPr>
        <a:solidFill>
          <a:srgbClr val="000000"/>
        </a:solidFill>
      </p:bgPr>
    </p:bg>
    <p:spTree>
      <p:nvGrpSpPr>
        <p:cNvPr id="1" name=""/>
        <p:cNvGrpSpPr/>
        <p:nvPr/>
      </p:nvGrpSpPr>
      <p:grpSpPr>
        <a:xfrm>
          <a:off x="0" y="0"/>
          <a:ext cx="0" cy="0"/>
          <a:chOff x="0" y="0"/>
          <a:chExt cx="0" cy="0"/>
        </a:xfrm>
      </p:grpSpPr>
      <p:sp>
        <p:nvSpPr>
          <p:cNvPr id="81" name="Shape 0"/>
          <p:cNvSpPr/>
          <p:nvPr/>
        </p:nvSpPr>
        <p:spPr>
          <a:xfrm>
            <a:off x="0" y="0"/>
            <a:ext cx="14630400" cy="8229600"/>
          </a:xfrm>
          <a:prstGeom prst="rect">
            <a:avLst/>
          </a:prstGeom>
          <a:solidFill>
            <a:srgbClr val="FAF2E9"/>
          </a:solidFill>
          <a:ln w="12700">
            <a:miter lim="400000"/>
          </a:ln>
        </p:spPr>
        <p:txBody>
          <a:bodyPr lIns="45719" rIns="45719"/>
          <a:lstStyle/>
          <a:p>
            <a:pPr/>
          </a:p>
        </p:txBody>
      </p:sp>
      <p:sp>
        <p:nvSpPr>
          <p:cNvPr id="82" name="Shape 1"/>
          <p:cNvSpPr/>
          <p:nvPr/>
        </p:nvSpPr>
        <p:spPr>
          <a:xfrm>
            <a:off x="0" y="0"/>
            <a:ext cx="14630400" cy="8229600"/>
          </a:xfrm>
          <a:prstGeom prst="rect">
            <a:avLst/>
          </a:prstGeom>
          <a:solidFill>
            <a:srgbClr val="FDFAF7"/>
          </a:solidFill>
          <a:ln w="12700">
            <a:miter lim="400000"/>
          </a:ln>
        </p:spPr>
        <p:txBody>
          <a:bodyPr lIns="45719" rIns="45719"/>
          <a:lstStyle/>
          <a:p>
            <a:pPr/>
          </a:p>
        </p:txBody>
      </p:sp>
      <p:sp>
        <p:nvSpPr>
          <p:cNvPr id="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9 master">
    <p:bg>
      <p:bgPr>
        <a:solidFill>
          <a:srgbClr val="000000"/>
        </a:solidFill>
      </p:bgPr>
    </p:bg>
    <p:spTree>
      <p:nvGrpSpPr>
        <p:cNvPr id="1" name=""/>
        <p:cNvGrpSpPr/>
        <p:nvPr/>
      </p:nvGrpSpPr>
      <p:grpSpPr>
        <a:xfrm>
          <a:off x="0" y="0"/>
          <a:ext cx="0" cy="0"/>
          <a:chOff x="0" y="0"/>
          <a:chExt cx="0" cy="0"/>
        </a:xfrm>
      </p:grpSpPr>
      <p:sp>
        <p:nvSpPr>
          <p:cNvPr id="90" name="Shape 0"/>
          <p:cNvSpPr/>
          <p:nvPr/>
        </p:nvSpPr>
        <p:spPr>
          <a:xfrm>
            <a:off x="0" y="0"/>
            <a:ext cx="14630400" cy="8229600"/>
          </a:xfrm>
          <a:prstGeom prst="rect">
            <a:avLst/>
          </a:prstGeom>
          <a:solidFill>
            <a:srgbClr val="FAF2E9"/>
          </a:solidFill>
          <a:ln w="12700">
            <a:miter lim="400000"/>
          </a:ln>
        </p:spPr>
        <p:txBody>
          <a:bodyPr lIns="45719" rIns="45719"/>
          <a:lstStyle/>
          <a:p>
            <a:pPr/>
          </a:p>
        </p:txBody>
      </p:sp>
      <p:sp>
        <p:nvSpPr>
          <p:cNvPr id="91" name="Shape 1"/>
          <p:cNvSpPr/>
          <p:nvPr/>
        </p:nvSpPr>
        <p:spPr>
          <a:xfrm>
            <a:off x="0" y="0"/>
            <a:ext cx="14630400" cy="8229600"/>
          </a:xfrm>
          <a:prstGeom prst="rect">
            <a:avLst/>
          </a:prstGeom>
          <a:solidFill>
            <a:srgbClr val="FDFAF7"/>
          </a:solidFill>
          <a:ln w="12700">
            <a:miter lim="400000"/>
          </a:ln>
        </p:spPr>
        <p:txBody>
          <a:bodyPr lIns="45719" rIns="45719"/>
          <a:lstStyle/>
          <a:p>
            <a:pPr/>
          </a:p>
        </p:txBody>
      </p:sp>
      <p:sp>
        <p:nvSpPr>
          <p:cNvPr id="9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0 master">
    <p:bg>
      <p:bgPr>
        <a:solidFill>
          <a:srgbClr val="000000"/>
        </a:solidFill>
      </p:bgPr>
    </p:bg>
    <p:spTree>
      <p:nvGrpSpPr>
        <p:cNvPr id="1" name=""/>
        <p:cNvGrpSpPr/>
        <p:nvPr/>
      </p:nvGrpSpPr>
      <p:grpSpPr>
        <a:xfrm>
          <a:off x="0" y="0"/>
          <a:ext cx="0" cy="0"/>
          <a:chOff x="0" y="0"/>
          <a:chExt cx="0" cy="0"/>
        </a:xfrm>
      </p:grpSpPr>
      <p:sp>
        <p:nvSpPr>
          <p:cNvPr id="99" name="Shape 0"/>
          <p:cNvSpPr/>
          <p:nvPr/>
        </p:nvSpPr>
        <p:spPr>
          <a:xfrm>
            <a:off x="0" y="0"/>
            <a:ext cx="14630400" cy="8229600"/>
          </a:xfrm>
          <a:prstGeom prst="rect">
            <a:avLst/>
          </a:prstGeom>
          <a:solidFill>
            <a:srgbClr val="FAF2E9"/>
          </a:solidFill>
          <a:ln w="12700">
            <a:miter lim="400000"/>
          </a:ln>
        </p:spPr>
        <p:txBody>
          <a:bodyPr lIns="45719" rIns="45719"/>
          <a:lstStyle/>
          <a:p>
            <a:pPr/>
          </a:p>
        </p:txBody>
      </p:sp>
      <p:sp>
        <p:nvSpPr>
          <p:cNvPr id="100" name="Shape 1"/>
          <p:cNvSpPr/>
          <p:nvPr/>
        </p:nvSpPr>
        <p:spPr>
          <a:xfrm>
            <a:off x="0" y="0"/>
            <a:ext cx="14630400" cy="8229600"/>
          </a:xfrm>
          <a:prstGeom prst="rect">
            <a:avLst/>
          </a:prstGeom>
          <a:solidFill>
            <a:srgbClr val="FDFAF7"/>
          </a:solidFill>
          <a:ln w="12700">
            <a:miter lim="400000"/>
          </a:ln>
        </p:spPr>
        <p:txBody>
          <a:bodyPr lIns="45719" rIns="45719"/>
          <a:lstStyle/>
          <a:p>
            <a:pP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1 master">
    <p:bg>
      <p:bgPr>
        <a:solidFill>
          <a:srgbClr val="000000"/>
        </a:solidFill>
      </p:bgPr>
    </p:bg>
    <p:spTree>
      <p:nvGrpSpPr>
        <p:cNvPr id="1" name=""/>
        <p:cNvGrpSpPr/>
        <p:nvPr/>
      </p:nvGrpSpPr>
      <p:grpSpPr>
        <a:xfrm>
          <a:off x="0" y="0"/>
          <a:ext cx="0" cy="0"/>
          <a:chOff x="0" y="0"/>
          <a:chExt cx="0" cy="0"/>
        </a:xfrm>
      </p:grpSpPr>
      <p:sp>
        <p:nvSpPr>
          <p:cNvPr id="108" name="Shape 0"/>
          <p:cNvSpPr/>
          <p:nvPr/>
        </p:nvSpPr>
        <p:spPr>
          <a:xfrm>
            <a:off x="0" y="0"/>
            <a:ext cx="14630400" cy="8229600"/>
          </a:xfrm>
          <a:prstGeom prst="rect">
            <a:avLst/>
          </a:prstGeom>
          <a:solidFill>
            <a:srgbClr val="FAF2E9"/>
          </a:solidFill>
          <a:ln w="12700">
            <a:miter lim="400000"/>
          </a:ln>
        </p:spPr>
        <p:txBody>
          <a:bodyPr lIns="45719" rIns="45719"/>
          <a:lstStyle/>
          <a:p>
            <a:pPr/>
          </a:p>
        </p:txBody>
      </p:sp>
      <p:sp>
        <p:nvSpPr>
          <p:cNvPr id="109" name="Shape 1"/>
          <p:cNvSpPr/>
          <p:nvPr/>
        </p:nvSpPr>
        <p:spPr>
          <a:xfrm>
            <a:off x="0" y="0"/>
            <a:ext cx="14630400" cy="8229600"/>
          </a:xfrm>
          <a:prstGeom prst="rect">
            <a:avLst/>
          </a:prstGeom>
          <a:solidFill>
            <a:srgbClr val="FDFAF7"/>
          </a:solidFill>
          <a:ln w="12700">
            <a:miter lim="400000"/>
          </a:ln>
        </p:spPr>
        <p:txBody>
          <a:bodyPr lIns="45719" rIns="45719"/>
          <a:lstStyle/>
          <a:p>
            <a:pPr/>
          </a:p>
        </p:txBody>
      </p:sp>
      <p:sp>
        <p:nvSpPr>
          <p:cNvPr id="11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2 master">
    <p:bg>
      <p:bgPr>
        <a:solidFill>
          <a:srgbClr val="000000"/>
        </a:solidFill>
      </p:bgPr>
    </p:bg>
    <p:spTree>
      <p:nvGrpSpPr>
        <p:cNvPr id="1" name=""/>
        <p:cNvGrpSpPr/>
        <p:nvPr/>
      </p:nvGrpSpPr>
      <p:grpSpPr>
        <a:xfrm>
          <a:off x="0" y="0"/>
          <a:ext cx="0" cy="0"/>
          <a:chOff x="0" y="0"/>
          <a:chExt cx="0" cy="0"/>
        </a:xfrm>
      </p:grpSpPr>
      <p:sp>
        <p:nvSpPr>
          <p:cNvPr id="117" name="Shape 0"/>
          <p:cNvSpPr/>
          <p:nvPr/>
        </p:nvSpPr>
        <p:spPr>
          <a:xfrm>
            <a:off x="0" y="0"/>
            <a:ext cx="14630400" cy="8229600"/>
          </a:xfrm>
          <a:prstGeom prst="rect">
            <a:avLst/>
          </a:prstGeom>
          <a:solidFill>
            <a:srgbClr val="FAF2E9"/>
          </a:solidFill>
          <a:ln w="12700">
            <a:miter lim="400000"/>
          </a:ln>
        </p:spPr>
        <p:txBody>
          <a:bodyPr lIns="45719" rIns="45719"/>
          <a:lstStyle/>
          <a:p>
            <a:pPr/>
          </a:p>
        </p:txBody>
      </p:sp>
      <p:sp>
        <p:nvSpPr>
          <p:cNvPr id="118" name="Shape 1"/>
          <p:cNvSpPr/>
          <p:nvPr/>
        </p:nvSpPr>
        <p:spPr>
          <a:xfrm>
            <a:off x="0" y="0"/>
            <a:ext cx="14630400" cy="8229600"/>
          </a:xfrm>
          <a:prstGeom prst="rect">
            <a:avLst/>
          </a:prstGeom>
          <a:solidFill>
            <a:srgbClr val="FDFAF7"/>
          </a:solidFill>
          <a:ln w="12700">
            <a:miter lim="400000"/>
          </a:ln>
        </p:spPr>
        <p:txBody>
          <a:bodyPr lIns="45719" rIns="45719"/>
          <a:lstStyle/>
          <a:p>
            <a:pP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3 master">
    <p:bg>
      <p:bgPr>
        <a:solidFill>
          <a:srgbClr val="000000"/>
        </a:solidFill>
      </p:bgPr>
    </p:bg>
    <p:spTree>
      <p:nvGrpSpPr>
        <p:cNvPr id="1" name=""/>
        <p:cNvGrpSpPr/>
        <p:nvPr/>
      </p:nvGrpSpPr>
      <p:grpSpPr>
        <a:xfrm>
          <a:off x="0" y="0"/>
          <a:ext cx="0" cy="0"/>
          <a:chOff x="0" y="0"/>
          <a:chExt cx="0" cy="0"/>
        </a:xfrm>
      </p:grpSpPr>
      <p:sp>
        <p:nvSpPr>
          <p:cNvPr id="126" name="Shape 0"/>
          <p:cNvSpPr/>
          <p:nvPr/>
        </p:nvSpPr>
        <p:spPr>
          <a:xfrm>
            <a:off x="0" y="0"/>
            <a:ext cx="14630400" cy="8229600"/>
          </a:xfrm>
          <a:prstGeom prst="rect">
            <a:avLst/>
          </a:prstGeom>
          <a:solidFill>
            <a:srgbClr val="FAF2E9"/>
          </a:solidFill>
          <a:ln w="12700">
            <a:miter lim="400000"/>
          </a:ln>
        </p:spPr>
        <p:txBody>
          <a:bodyPr lIns="45719" rIns="45719"/>
          <a:lstStyle/>
          <a:p>
            <a:pPr/>
          </a:p>
        </p:txBody>
      </p:sp>
      <p:sp>
        <p:nvSpPr>
          <p:cNvPr id="127" name="Shape 1"/>
          <p:cNvSpPr/>
          <p:nvPr/>
        </p:nvSpPr>
        <p:spPr>
          <a:xfrm>
            <a:off x="0" y="0"/>
            <a:ext cx="14630400" cy="8229600"/>
          </a:xfrm>
          <a:prstGeom prst="rect">
            <a:avLst/>
          </a:prstGeom>
          <a:solidFill>
            <a:srgbClr val="FDFAF7"/>
          </a:solidFill>
          <a:ln w="12700">
            <a:miter lim="400000"/>
          </a:ln>
        </p:spPr>
        <p:txBody>
          <a:bodyPr lIns="45719" rIns="45719"/>
          <a:lstStyle/>
          <a:p>
            <a:pP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4 master">
    <p:bg>
      <p:bgPr>
        <a:solidFill>
          <a:srgbClr val="000000"/>
        </a:solidFill>
      </p:bgPr>
    </p:bg>
    <p:spTree>
      <p:nvGrpSpPr>
        <p:cNvPr id="1" name=""/>
        <p:cNvGrpSpPr/>
        <p:nvPr/>
      </p:nvGrpSpPr>
      <p:grpSpPr>
        <a:xfrm>
          <a:off x="0" y="0"/>
          <a:ext cx="0" cy="0"/>
          <a:chOff x="0" y="0"/>
          <a:chExt cx="0" cy="0"/>
        </a:xfrm>
      </p:grpSpPr>
      <p:sp>
        <p:nvSpPr>
          <p:cNvPr id="135" name="Shape 0"/>
          <p:cNvSpPr/>
          <p:nvPr/>
        </p:nvSpPr>
        <p:spPr>
          <a:xfrm>
            <a:off x="0" y="0"/>
            <a:ext cx="14630400" cy="8229600"/>
          </a:xfrm>
          <a:prstGeom prst="rect">
            <a:avLst/>
          </a:prstGeom>
          <a:solidFill>
            <a:srgbClr val="FAF2E9"/>
          </a:solidFill>
          <a:ln w="12700">
            <a:miter lim="400000"/>
          </a:ln>
        </p:spPr>
        <p:txBody>
          <a:bodyPr lIns="45719" rIns="45719"/>
          <a:lstStyle/>
          <a:p>
            <a:pPr/>
          </a:p>
        </p:txBody>
      </p:sp>
      <p:sp>
        <p:nvSpPr>
          <p:cNvPr id="136" name="Shape 1"/>
          <p:cNvSpPr/>
          <p:nvPr/>
        </p:nvSpPr>
        <p:spPr>
          <a:xfrm>
            <a:off x="0" y="0"/>
            <a:ext cx="14630400" cy="8229600"/>
          </a:xfrm>
          <a:prstGeom prst="rect">
            <a:avLst/>
          </a:prstGeom>
          <a:solidFill>
            <a:srgbClr val="FDFAF7"/>
          </a:solidFill>
          <a:ln w="12700">
            <a:miter lim="400000"/>
          </a:ln>
        </p:spPr>
        <p:txBody>
          <a:bodyPr lIns="45719" rIns="45719"/>
          <a:lstStyle/>
          <a:p>
            <a:pP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5 master">
    <p:bg>
      <p:bgPr>
        <a:solidFill>
          <a:srgbClr val="000000"/>
        </a:solidFill>
      </p:bgPr>
    </p:bg>
    <p:spTree>
      <p:nvGrpSpPr>
        <p:cNvPr id="1" name=""/>
        <p:cNvGrpSpPr/>
        <p:nvPr/>
      </p:nvGrpSpPr>
      <p:grpSpPr>
        <a:xfrm>
          <a:off x="0" y="0"/>
          <a:ext cx="0" cy="0"/>
          <a:chOff x="0" y="0"/>
          <a:chExt cx="0" cy="0"/>
        </a:xfrm>
      </p:grpSpPr>
      <p:sp>
        <p:nvSpPr>
          <p:cNvPr id="144" name="Shape 0"/>
          <p:cNvSpPr/>
          <p:nvPr/>
        </p:nvSpPr>
        <p:spPr>
          <a:xfrm>
            <a:off x="0" y="0"/>
            <a:ext cx="14630400" cy="8229600"/>
          </a:xfrm>
          <a:prstGeom prst="rect">
            <a:avLst/>
          </a:prstGeom>
          <a:solidFill>
            <a:srgbClr val="FAF2E9"/>
          </a:solidFill>
          <a:ln w="12700">
            <a:miter lim="400000"/>
          </a:ln>
        </p:spPr>
        <p:txBody>
          <a:bodyPr lIns="45719" rIns="45719"/>
          <a:lstStyle/>
          <a:p>
            <a:pPr/>
          </a:p>
        </p:txBody>
      </p:sp>
      <p:sp>
        <p:nvSpPr>
          <p:cNvPr id="145" name="Shape 1"/>
          <p:cNvSpPr/>
          <p:nvPr/>
        </p:nvSpPr>
        <p:spPr>
          <a:xfrm>
            <a:off x="0" y="0"/>
            <a:ext cx="14630400" cy="8229600"/>
          </a:xfrm>
          <a:prstGeom prst="rect">
            <a:avLst/>
          </a:prstGeom>
          <a:solidFill>
            <a:srgbClr val="FDFAF7"/>
          </a:solidFill>
          <a:ln w="12700">
            <a:miter lim="400000"/>
          </a:ln>
        </p:spPr>
        <p:txBody>
          <a:bodyPr lIns="45719" rIns="45719"/>
          <a:lstStyle/>
          <a:p>
            <a:pPr/>
          </a:p>
        </p:txBody>
      </p:sp>
      <p:sp>
        <p:nvSpPr>
          <p:cNvPr id="14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6 master">
    <p:bg>
      <p:bgPr>
        <a:solidFill>
          <a:srgbClr val="000000"/>
        </a:solidFill>
      </p:bgPr>
    </p:bg>
    <p:spTree>
      <p:nvGrpSpPr>
        <p:cNvPr id="1" name=""/>
        <p:cNvGrpSpPr/>
        <p:nvPr/>
      </p:nvGrpSpPr>
      <p:grpSpPr>
        <a:xfrm>
          <a:off x="0" y="0"/>
          <a:ext cx="0" cy="0"/>
          <a:chOff x="0" y="0"/>
          <a:chExt cx="0" cy="0"/>
        </a:xfrm>
      </p:grpSpPr>
      <p:sp>
        <p:nvSpPr>
          <p:cNvPr id="153" name="Shape 0"/>
          <p:cNvSpPr/>
          <p:nvPr/>
        </p:nvSpPr>
        <p:spPr>
          <a:xfrm>
            <a:off x="0" y="0"/>
            <a:ext cx="14630400" cy="8229600"/>
          </a:xfrm>
          <a:prstGeom prst="rect">
            <a:avLst/>
          </a:prstGeom>
          <a:solidFill>
            <a:srgbClr val="FAF2E9"/>
          </a:solidFill>
          <a:ln w="12700">
            <a:miter lim="400000"/>
          </a:ln>
        </p:spPr>
        <p:txBody>
          <a:bodyPr lIns="45719" rIns="45719"/>
          <a:lstStyle/>
          <a:p>
            <a:pPr/>
          </a:p>
        </p:txBody>
      </p:sp>
      <p:sp>
        <p:nvSpPr>
          <p:cNvPr id="154" name="Shape 1"/>
          <p:cNvSpPr/>
          <p:nvPr/>
        </p:nvSpPr>
        <p:spPr>
          <a:xfrm>
            <a:off x="0" y="0"/>
            <a:ext cx="14630400" cy="8229600"/>
          </a:xfrm>
          <a:prstGeom prst="rect">
            <a:avLst/>
          </a:prstGeom>
          <a:solidFill>
            <a:srgbClr val="FDFAF7"/>
          </a:solidFill>
          <a:ln w="12700">
            <a:miter lim="400000"/>
          </a:ln>
        </p:spPr>
        <p:txBody>
          <a:bodyPr lIns="45719" rIns="45719"/>
          <a:lstStyle/>
          <a:p>
            <a:pPr/>
          </a:p>
        </p:txBody>
      </p:sp>
      <p:sp>
        <p:nvSpPr>
          <p:cNvPr id="1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7 master">
    <p:bg>
      <p:bgPr>
        <a:solidFill>
          <a:srgbClr val="000000"/>
        </a:solidFill>
      </p:bgPr>
    </p:bg>
    <p:spTree>
      <p:nvGrpSpPr>
        <p:cNvPr id="1" name=""/>
        <p:cNvGrpSpPr/>
        <p:nvPr/>
      </p:nvGrpSpPr>
      <p:grpSpPr>
        <a:xfrm>
          <a:off x="0" y="0"/>
          <a:ext cx="0" cy="0"/>
          <a:chOff x="0" y="0"/>
          <a:chExt cx="0" cy="0"/>
        </a:xfrm>
      </p:grpSpPr>
      <p:sp>
        <p:nvSpPr>
          <p:cNvPr id="162" name="Shape 0"/>
          <p:cNvSpPr/>
          <p:nvPr/>
        </p:nvSpPr>
        <p:spPr>
          <a:xfrm>
            <a:off x="0" y="0"/>
            <a:ext cx="14630400" cy="8229600"/>
          </a:xfrm>
          <a:prstGeom prst="rect">
            <a:avLst/>
          </a:prstGeom>
          <a:solidFill>
            <a:srgbClr val="FAF2E9"/>
          </a:solidFill>
          <a:ln w="12700">
            <a:miter lim="400000"/>
          </a:ln>
        </p:spPr>
        <p:txBody>
          <a:bodyPr lIns="45719" rIns="45719"/>
          <a:lstStyle/>
          <a:p>
            <a:pPr/>
          </a:p>
        </p:txBody>
      </p:sp>
      <p:sp>
        <p:nvSpPr>
          <p:cNvPr id="163" name="Shape 1"/>
          <p:cNvSpPr/>
          <p:nvPr/>
        </p:nvSpPr>
        <p:spPr>
          <a:xfrm>
            <a:off x="0" y="0"/>
            <a:ext cx="14630400" cy="8229600"/>
          </a:xfrm>
          <a:prstGeom prst="rect">
            <a:avLst/>
          </a:prstGeom>
          <a:solidFill>
            <a:srgbClr val="FDFAF7"/>
          </a:solidFill>
          <a:ln w="12700">
            <a:miter lim="400000"/>
          </a:ln>
        </p:spPr>
        <p:txBody>
          <a:bodyPr lIns="45719" rIns="45719"/>
          <a:lstStyle/>
          <a:p>
            <a:pPr/>
          </a:p>
        </p:txBody>
      </p:sp>
      <p:sp>
        <p:nvSpPr>
          <p:cNvPr id="1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731520" y="110489"/>
            <a:ext cx="13167361" cy="1809751"/>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731520" y="1920239"/>
            <a:ext cx="13167361" cy="6309362"/>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7071359" y="7408545"/>
            <a:ext cx="3413761" cy="438150"/>
          </a:xfrm>
          <a:prstGeom prst="rect">
            <a:avLst/>
          </a:prstGeom>
          <a:ln w="12700">
            <a:miter lim="400000"/>
          </a:ln>
        </p:spPr>
        <p:txBody>
          <a:bodyPr wrap="none" lIns="45719" rIns="45719" anchor="ctr">
            <a:spAutoFit/>
          </a:bodyPr>
          <a:lstStyle>
            <a:lvl1pPr algn="r">
              <a:defRPr sz="1200">
                <a:latin typeface="+mj-lt"/>
                <a:ea typeface="+mj-ea"/>
                <a:cs typeface="+mj-cs"/>
                <a:sym typeface="Helvetic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5.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6.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7.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3.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hyperlink" Target="http://dmca.org/" TargetMode="Externa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3" name="Image 0" descr="Image 0"/>
          <p:cNvPicPr>
            <a:picLocks noChangeAspect="1"/>
          </p:cNvPicPr>
          <p:nvPr/>
        </p:nvPicPr>
        <p:blipFill>
          <a:blip r:embed="rId2">
            <a:extLst/>
          </a:blip>
          <a:stretch>
            <a:fillRect/>
          </a:stretch>
        </p:blipFill>
        <p:spPr>
          <a:xfrm>
            <a:off x="7315200" y="0"/>
            <a:ext cx="7315200" cy="8229600"/>
          </a:xfrm>
          <a:prstGeom prst="rect">
            <a:avLst/>
          </a:prstGeom>
          <a:ln w="12700">
            <a:miter lim="400000"/>
          </a:ln>
        </p:spPr>
      </p:pic>
      <p:sp>
        <p:nvSpPr>
          <p:cNvPr id="174" name="Text 0"/>
          <p:cNvSpPr txBox="1"/>
          <p:nvPr/>
        </p:nvSpPr>
        <p:spPr>
          <a:xfrm>
            <a:off x="793790" y="2576870"/>
            <a:ext cx="5727621" cy="23122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6100"/>
              </a:lnSpc>
              <a:defRPr b="1" sz="4900">
                <a:solidFill>
                  <a:srgbClr val="F95F88"/>
                </a:solidFill>
                <a:latin typeface="Petrona Bold"/>
                <a:ea typeface="Petrona Bold"/>
                <a:cs typeface="Petrona Bold"/>
                <a:sym typeface="Petrona Bold"/>
              </a:defRPr>
            </a:lvl1pPr>
          </a:lstStyle>
          <a:p>
            <a:pPr/>
            <a:r>
              <a:t>Threat Research and Brand Protection</a:t>
            </a:r>
          </a:p>
        </p:txBody>
      </p:sp>
      <p:sp>
        <p:nvSpPr>
          <p:cNvPr id="175" name="Shape 1"/>
          <p:cNvSpPr/>
          <p:nvPr/>
        </p:nvSpPr>
        <p:spPr>
          <a:xfrm>
            <a:off x="793790" y="5272802"/>
            <a:ext cx="362904" cy="362904"/>
          </a:xfrm>
          <a:prstGeom prst="roundRect">
            <a:avLst>
              <a:gd name="adj" fmla="val 50000"/>
            </a:avLst>
          </a:prstGeom>
          <a:solidFill>
            <a:srgbClr val="2BB4FC"/>
          </a:solidFill>
          <a:ln w="7620">
            <a:solidFill>
              <a:srgbClr val="FFFFFF"/>
            </a:solidFill>
          </a:ln>
        </p:spPr>
        <p:txBody>
          <a:bodyPr lIns="45719" rIns="45719"/>
          <a:lstStyle/>
          <a:p>
            <a:pPr/>
          </a:p>
        </p:txBody>
      </p:sp>
      <p:sp>
        <p:nvSpPr>
          <p:cNvPr id="176" name="Text 2"/>
          <p:cNvSpPr txBox="1"/>
          <p:nvPr/>
        </p:nvSpPr>
        <p:spPr>
          <a:xfrm>
            <a:off x="911740" y="5405437"/>
            <a:ext cx="127001"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700"/>
              </a:lnSpc>
              <a:defRPr sz="700">
                <a:solidFill>
                  <a:srgbClr val="4D4D51"/>
                </a:solidFill>
                <a:latin typeface="Inter Medium"/>
                <a:ea typeface="Inter Medium"/>
                <a:cs typeface="Inter Medium"/>
                <a:sym typeface="Inter Medium"/>
              </a:defRPr>
            </a:lvl1pPr>
          </a:lstStyle>
          <a:p>
            <a:pPr/>
            <a:r>
              <a:t>rs</a:t>
            </a:r>
          </a:p>
        </p:txBody>
      </p:sp>
      <p:sp>
        <p:nvSpPr>
          <p:cNvPr id="177" name="Text 3"/>
          <p:cNvSpPr txBox="1"/>
          <p:nvPr/>
        </p:nvSpPr>
        <p:spPr>
          <a:xfrm>
            <a:off x="1270039" y="5255895"/>
            <a:ext cx="3056361" cy="37921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100"/>
              </a:lnSpc>
              <a:defRPr b="1" sz="2200">
                <a:solidFill>
                  <a:srgbClr val="272525"/>
                </a:solidFill>
                <a:latin typeface="Inter Bold"/>
                <a:ea typeface="Inter Bold"/>
                <a:cs typeface="Inter Bold"/>
                <a:sym typeface="Inter Bold"/>
              </a:defRPr>
            </a:lvl1pPr>
          </a:lstStyle>
          <a:p>
            <a:pPr/>
            <a:r>
              <a:t>by Rahul sai (N190081)</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Text 0"/>
          <p:cNvSpPr txBox="1"/>
          <p:nvPr/>
        </p:nvSpPr>
        <p:spPr>
          <a:xfrm>
            <a:off x="793790" y="884633"/>
            <a:ext cx="5221728" cy="7628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6100"/>
              </a:lnSpc>
              <a:defRPr b="1" sz="4900">
                <a:solidFill>
                  <a:srgbClr val="F95F88"/>
                </a:solidFill>
                <a:latin typeface="Petrona Bold"/>
                <a:ea typeface="Petrona Bold"/>
                <a:cs typeface="Petrona Bold"/>
                <a:sym typeface="Petrona Bold"/>
              </a:defRPr>
            </a:lvl1pPr>
          </a:lstStyle>
          <a:p>
            <a:pPr/>
            <a:r>
              <a:t>Table of Contents</a:t>
            </a:r>
          </a:p>
        </p:txBody>
      </p:sp>
      <p:sp>
        <p:nvSpPr>
          <p:cNvPr id="180" name="Text 1"/>
          <p:cNvSpPr txBox="1"/>
          <p:nvPr/>
        </p:nvSpPr>
        <p:spPr>
          <a:xfrm>
            <a:off x="793790" y="2117883"/>
            <a:ext cx="1147515" cy="33413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AutoNum type="arabicPeriod" startAt="1"/>
              <a:defRPr sz="1700">
                <a:solidFill>
                  <a:srgbClr val="272525"/>
                </a:solidFill>
                <a:latin typeface="Inter"/>
                <a:ea typeface="Inter"/>
                <a:cs typeface="Inter"/>
                <a:sym typeface="Inter"/>
              </a:defRPr>
            </a:lvl1pPr>
          </a:lstStyle>
          <a:p>
            <a:pPr/>
            <a:r>
              <a:t>Abstract</a:t>
            </a:r>
          </a:p>
        </p:txBody>
      </p:sp>
      <p:sp>
        <p:nvSpPr>
          <p:cNvPr id="181" name="Text 2"/>
          <p:cNvSpPr txBox="1"/>
          <p:nvPr/>
        </p:nvSpPr>
        <p:spPr>
          <a:xfrm>
            <a:off x="793790" y="2560081"/>
            <a:ext cx="1483805" cy="33413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AutoNum type="arabicPeriod" startAt="2"/>
              <a:defRPr sz="1700">
                <a:solidFill>
                  <a:srgbClr val="272525"/>
                </a:solidFill>
                <a:latin typeface="Inter"/>
                <a:ea typeface="Inter"/>
                <a:cs typeface="Inter"/>
                <a:sym typeface="Inter"/>
              </a:defRPr>
            </a:lvl1pPr>
          </a:lstStyle>
          <a:p>
            <a:pPr/>
            <a:r>
              <a:t>Introduction</a:t>
            </a:r>
          </a:p>
        </p:txBody>
      </p:sp>
      <p:sp>
        <p:nvSpPr>
          <p:cNvPr id="182" name="Text 3"/>
          <p:cNvSpPr txBox="1"/>
          <p:nvPr/>
        </p:nvSpPr>
        <p:spPr>
          <a:xfrm>
            <a:off x="793790" y="3002279"/>
            <a:ext cx="2984141" cy="33413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AutoNum type="arabicPeriod" startAt="3"/>
              <a:defRPr sz="1700">
                <a:solidFill>
                  <a:srgbClr val="272525"/>
                </a:solidFill>
                <a:latin typeface="Inter"/>
                <a:ea typeface="Inter"/>
                <a:cs typeface="Inter"/>
                <a:sym typeface="Inter"/>
              </a:defRPr>
            </a:lvl1pPr>
          </a:lstStyle>
          <a:p>
            <a:pPr/>
            <a:r>
              <a:t>Background and Inspiration</a:t>
            </a:r>
          </a:p>
        </p:txBody>
      </p:sp>
      <p:sp>
        <p:nvSpPr>
          <p:cNvPr id="183" name="Text 4"/>
          <p:cNvSpPr txBox="1"/>
          <p:nvPr/>
        </p:nvSpPr>
        <p:spPr>
          <a:xfrm>
            <a:off x="793790" y="3444478"/>
            <a:ext cx="3752336" cy="3341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AutoNum type="arabicPeriod" startAt="4"/>
              <a:defRPr sz="1700">
                <a:solidFill>
                  <a:srgbClr val="272525"/>
                </a:solidFill>
                <a:latin typeface="Inter"/>
                <a:ea typeface="Inter"/>
                <a:cs typeface="Inter"/>
                <a:sym typeface="Inter"/>
              </a:defRPr>
            </a:lvl1pPr>
          </a:lstStyle>
          <a:p>
            <a:pPr/>
            <a:r>
              <a:t>Design and Development Approach</a:t>
            </a:r>
          </a:p>
        </p:txBody>
      </p:sp>
      <p:sp>
        <p:nvSpPr>
          <p:cNvPr id="184" name="Text 5"/>
          <p:cNvSpPr txBox="1"/>
          <p:nvPr/>
        </p:nvSpPr>
        <p:spPr>
          <a:xfrm>
            <a:off x="793790" y="3886675"/>
            <a:ext cx="3104003" cy="33413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AutoNum type="arabicPeriod" startAt="5"/>
              <a:defRPr sz="1700">
                <a:solidFill>
                  <a:srgbClr val="272525"/>
                </a:solidFill>
                <a:latin typeface="Inter"/>
                <a:ea typeface="Inter"/>
                <a:cs typeface="Inter"/>
                <a:sym typeface="Inter"/>
              </a:defRPr>
            </a:lvl1pPr>
          </a:lstStyle>
          <a:p>
            <a:pPr/>
            <a:r>
              <a:t>Brand Reputation Monitoring</a:t>
            </a:r>
          </a:p>
        </p:txBody>
      </p:sp>
      <p:sp>
        <p:nvSpPr>
          <p:cNvPr id="185" name="Text 6"/>
          <p:cNvSpPr txBox="1"/>
          <p:nvPr/>
        </p:nvSpPr>
        <p:spPr>
          <a:xfrm>
            <a:off x="793790" y="4328874"/>
            <a:ext cx="2947771" cy="3341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AutoNum type="arabicPeriod" startAt="6"/>
              <a:defRPr sz="1700">
                <a:solidFill>
                  <a:srgbClr val="272525"/>
                </a:solidFill>
                <a:latin typeface="Inter"/>
                <a:ea typeface="Inter"/>
                <a:cs typeface="Inter"/>
                <a:sym typeface="Inter"/>
              </a:defRPr>
            </a:lvl1pPr>
          </a:lstStyle>
          <a:p>
            <a:pPr/>
            <a:r>
              <a:t>Strategic Monitoring Areas </a:t>
            </a:r>
          </a:p>
        </p:txBody>
      </p:sp>
      <p:sp>
        <p:nvSpPr>
          <p:cNvPr id="186" name="Text 7"/>
          <p:cNvSpPr txBox="1"/>
          <p:nvPr/>
        </p:nvSpPr>
        <p:spPr>
          <a:xfrm>
            <a:off x="793790" y="4771073"/>
            <a:ext cx="2619915" cy="3341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AutoNum type="arabicPeriod" startAt="7"/>
              <a:defRPr sz="1700">
                <a:solidFill>
                  <a:srgbClr val="272525"/>
                </a:solidFill>
                <a:latin typeface="Inter"/>
                <a:ea typeface="Inter"/>
                <a:cs typeface="Inter"/>
                <a:sym typeface="Inter"/>
              </a:defRPr>
            </a:lvl1pPr>
          </a:lstStyle>
          <a:p>
            <a:pPr/>
            <a:r>
              <a:t>Brand Threat Highlights</a:t>
            </a:r>
          </a:p>
        </p:txBody>
      </p:sp>
      <p:sp>
        <p:nvSpPr>
          <p:cNvPr id="187" name="Text 8"/>
          <p:cNvSpPr txBox="1"/>
          <p:nvPr/>
        </p:nvSpPr>
        <p:spPr>
          <a:xfrm>
            <a:off x="793790" y="5213270"/>
            <a:ext cx="3415519" cy="33413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AutoNum type="arabicPeriod" startAt="8"/>
              <a:defRPr sz="1700">
                <a:solidFill>
                  <a:srgbClr val="272525"/>
                </a:solidFill>
                <a:latin typeface="Inter"/>
                <a:ea typeface="Inter"/>
                <a:cs typeface="Inter"/>
                <a:sym typeface="Inter"/>
              </a:defRPr>
            </a:lvl1pPr>
          </a:lstStyle>
          <a:p>
            <a:pPr/>
            <a:r>
              <a:t>Proof of Concept (PoC) Reports</a:t>
            </a:r>
          </a:p>
        </p:txBody>
      </p:sp>
      <p:sp>
        <p:nvSpPr>
          <p:cNvPr id="188" name="Text 9"/>
          <p:cNvSpPr txBox="1"/>
          <p:nvPr/>
        </p:nvSpPr>
        <p:spPr>
          <a:xfrm>
            <a:off x="793790" y="5655469"/>
            <a:ext cx="2479812" cy="3341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AutoNum type="arabicPeriod" startAt="9"/>
              <a:defRPr sz="1700">
                <a:solidFill>
                  <a:srgbClr val="272525"/>
                </a:solidFill>
                <a:latin typeface="Inter"/>
                <a:ea typeface="Inter"/>
                <a:cs typeface="Inter"/>
                <a:sym typeface="Inter"/>
              </a:defRPr>
            </a:lvl1pPr>
          </a:lstStyle>
          <a:p>
            <a:pPr/>
            <a:r>
              <a:t>Future Enchancement</a:t>
            </a:r>
          </a:p>
        </p:txBody>
      </p:sp>
      <p:sp>
        <p:nvSpPr>
          <p:cNvPr id="189" name="Text 10"/>
          <p:cNvSpPr txBox="1"/>
          <p:nvPr/>
        </p:nvSpPr>
        <p:spPr>
          <a:xfrm>
            <a:off x="793790" y="6097666"/>
            <a:ext cx="1423715" cy="33413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AutoNum type="arabicPeriod" startAt="10"/>
              <a:defRPr sz="1700">
                <a:solidFill>
                  <a:srgbClr val="272525"/>
                </a:solidFill>
                <a:latin typeface="Inter"/>
                <a:ea typeface="Inter"/>
                <a:cs typeface="Inter"/>
                <a:sym typeface="Inter"/>
              </a:defRPr>
            </a:lvl1pPr>
          </a:lstStyle>
          <a:p>
            <a:pPr/>
            <a:r>
              <a:t>Conclusion</a:t>
            </a:r>
          </a:p>
        </p:txBody>
      </p:sp>
      <p:sp>
        <p:nvSpPr>
          <p:cNvPr id="190" name="Text 11"/>
          <p:cNvSpPr txBox="1"/>
          <p:nvPr/>
        </p:nvSpPr>
        <p:spPr>
          <a:xfrm>
            <a:off x="793790" y="6539865"/>
            <a:ext cx="1459663" cy="3341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AutoNum type="arabicPeriod" startAt="11"/>
              <a:defRPr sz="1700">
                <a:solidFill>
                  <a:srgbClr val="272525"/>
                </a:solidFill>
                <a:latin typeface="Inter"/>
                <a:ea typeface="Inter"/>
                <a:cs typeface="Inter"/>
                <a:sym typeface="Inter"/>
              </a:defRPr>
            </a:lvl1pPr>
          </a:lstStyle>
          <a:p>
            <a:pPr/>
            <a:r>
              <a:t>References</a:t>
            </a:r>
          </a:p>
        </p:txBody>
      </p:sp>
      <p:sp>
        <p:nvSpPr>
          <p:cNvPr id="191" name="Text 12"/>
          <p:cNvSpPr txBox="1"/>
          <p:nvPr/>
        </p:nvSpPr>
        <p:spPr>
          <a:xfrm>
            <a:off x="793790" y="6982062"/>
            <a:ext cx="1987817" cy="33413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AutoNum type="arabicPeriod" startAt="12"/>
              <a:defRPr sz="1700">
                <a:solidFill>
                  <a:srgbClr val="272525"/>
                </a:solidFill>
                <a:latin typeface="Inter"/>
                <a:ea typeface="Inter"/>
                <a:cs typeface="Inter"/>
                <a:sym typeface="Inter"/>
              </a:defRPr>
            </a:lvl1pPr>
          </a:lstStyle>
          <a:p>
            <a:pPr/>
            <a:r>
              <a:t>Thank you Q &amp; A</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3" name="Image 0" descr="Image 0"/>
          <p:cNvPicPr>
            <a:picLocks noChangeAspect="1"/>
          </p:cNvPicPr>
          <p:nvPr/>
        </p:nvPicPr>
        <p:blipFill>
          <a:blip r:embed="rId2">
            <a:extLst/>
          </a:blip>
          <a:stretch>
            <a:fillRect/>
          </a:stretch>
        </p:blipFill>
        <p:spPr>
          <a:xfrm>
            <a:off x="0" y="0"/>
            <a:ext cx="14630400" cy="2551748"/>
          </a:xfrm>
          <a:prstGeom prst="rect">
            <a:avLst/>
          </a:prstGeom>
          <a:ln w="12700">
            <a:miter lim="400000"/>
          </a:ln>
        </p:spPr>
      </p:pic>
      <p:sp>
        <p:nvSpPr>
          <p:cNvPr id="194" name="Text 0"/>
          <p:cNvSpPr txBox="1"/>
          <p:nvPr/>
        </p:nvSpPr>
        <p:spPr>
          <a:xfrm>
            <a:off x="793789" y="3234689"/>
            <a:ext cx="2279552" cy="68731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5500"/>
              </a:lnSpc>
              <a:defRPr b="1" sz="4400">
                <a:solidFill>
                  <a:srgbClr val="F95F88"/>
                </a:solidFill>
                <a:latin typeface="Petrona Bold"/>
                <a:ea typeface="Petrona Bold"/>
                <a:cs typeface="Petrona Bold"/>
                <a:sym typeface="Petrona Bold"/>
              </a:defRPr>
            </a:lvl1pPr>
          </a:lstStyle>
          <a:p>
            <a:pPr/>
            <a:r>
              <a:t>Abstract</a:t>
            </a:r>
          </a:p>
        </p:txBody>
      </p:sp>
      <p:sp>
        <p:nvSpPr>
          <p:cNvPr id="195" name="Shape 1"/>
          <p:cNvSpPr/>
          <p:nvPr/>
        </p:nvSpPr>
        <p:spPr>
          <a:xfrm>
            <a:off x="793790" y="4242434"/>
            <a:ext cx="6419375" cy="1550076"/>
          </a:xfrm>
          <a:prstGeom prst="roundRect">
            <a:avLst>
              <a:gd name="adj" fmla="val 5531"/>
            </a:avLst>
          </a:prstGeom>
          <a:solidFill>
            <a:srgbClr val="E0D7F4"/>
          </a:solidFill>
          <a:ln w="7620">
            <a:solidFill>
              <a:srgbClr val="C6BDDA"/>
            </a:solidFill>
          </a:ln>
        </p:spPr>
        <p:txBody>
          <a:bodyPr lIns="45719" rIns="45719"/>
          <a:lstStyle/>
          <a:p>
            <a:pPr/>
          </a:p>
        </p:txBody>
      </p:sp>
      <p:sp>
        <p:nvSpPr>
          <p:cNvPr id="196" name="Text 2"/>
          <p:cNvSpPr txBox="1"/>
          <p:nvPr/>
        </p:nvSpPr>
        <p:spPr>
          <a:xfrm>
            <a:off x="1005482" y="4454128"/>
            <a:ext cx="4622801" cy="33857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200">
                <a:solidFill>
                  <a:srgbClr val="272525"/>
                </a:solidFill>
                <a:latin typeface="Petrona Bold"/>
                <a:ea typeface="Petrona Bold"/>
                <a:cs typeface="Petrona Bold"/>
                <a:sym typeface="Petrona Bold"/>
              </a:defRPr>
            </a:lvl1pPr>
          </a:lstStyle>
          <a:p>
            <a:pPr/>
            <a:r>
              <a:t>Brand Protection &amp; Threat Hunting</a:t>
            </a:r>
          </a:p>
        </p:txBody>
      </p:sp>
      <p:sp>
        <p:nvSpPr>
          <p:cNvPr id="197" name="Text 3"/>
          <p:cNvSpPr txBox="1"/>
          <p:nvPr/>
        </p:nvSpPr>
        <p:spPr>
          <a:xfrm>
            <a:off x="1005482" y="4927401"/>
            <a:ext cx="5995989" cy="6182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600">
                <a:solidFill>
                  <a:srgbClr val="272525"/>
                </a:solidFill>
                <a:latin typeface="Inter"/>
                <a:ea typeface="Inter"/>
                <a:cs typeface="Inter"/>
                <a:sym typeface="Inter"/>
              </a:defRPr>
            </a:lvl1pPr>
          </a:lstStyle>
          <a:p>
            <a:pPr/>
            <a:r>
              <a:t>Identified fake apps, impostor accounts, exposed credentials, and risky mentions online to strengthen client reputation.</a:t>
            </a:r>
          </a:p>
        </p:txBody>
      </p:sp>
      <p:sp>
        <p:nvSpPr>
          <p:cNvPr id="198" name="Shape 4"/>
          <p:cNvSpPr/>
          <p:nvPr/>
        </p:nvSpPr>
        <p:spPr>
          <a:xfrm>
            <a:off x="7417237" y="4242434"/>
            <a:ext cx="6419375" cy="1550076"/>
          </a:xfrm>
          <a:prstGeom prst="roundRect">
            <a:avLst>
              <a:gd name="adj" fmla="val 5531"/>
            </a:avLst>
          </a:prstGeom>
          <a:solidFill>
            <a:srgbClr val="E0D7F4"/>
          </a:solidFill>
          <a:ln w="7620">
            <a:solidFill>
              <a:srgbClr val="C6BDDA"/>
            </a:solidFill>
          </a:ln>
        </p:spPr>
        <p:txBody>
          <a:bodyPr lIns="45719" rIns="45719"/>
          <a:lstStyle/>
          <a:p>
            <a:pPr/>
          </a:p>
        </p:txBody>
      </p:sp>
      <p:sp>
        <p:nvSpPr>
          <p:cNvPr id="199" name="Text 5"/>
          <p:cNvSpPr txBox="1"/>
          <p:nvPr/>
        </p:nvSpPr>
        <p:spPr>
          <a:xfrm>
            <a:off x="7628929" y="4454128"/>
            <a:ext cx="5312843" cy="33857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200">
                <a:solidFill>
                  <a:srgbClr val="272525"/>
                </a:solidFill>
                <a:latin typeface="Petrona Bold"/>
                <a:ea typeface="Petrona Bold"/>
                <a:cs typeface="Petrona Bold"/>
                <a:sym typeface="Petrona Bold"/>
              </a:defRPr>
            </a:lvl1pPr>
          </a:lstStyle>
          <a:p>
            <a:pPr/>
            <a:r>
              <a:t>Vulnerability Assessment &amp; Pen Testing</a:t>
            </a:r>
          </a:p>
        </p:txBody>
      </p:sp>
      <p:sp>
        <p:nvSpPr>
          <p:cNvPr id="200" name="Text 6"/>
          <p:cNvSpPr txBox="1"/>
          <p:nvPr/>
        </p:nvSpPr>
        <p:spPr>
          <a:xfrm>
            <a:off x="7628929" y="4927401"/>
            <a:ext cx="5995988" cy="6182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600">
                <a:solidFill>
                  <a:srgbClr val="272525"/>
                </a:solidFill>
                <a:latin typeface="Inter"/>
                <a:ea typeface="Inter"/>
                <a:cs typeface="Inter"/>
                <a:sym typeface="Inter"/>
              </a:defRPr>
            </a:lvl1pPr>
          </a:lstStyle>
          <a:p>
            <a:pPr/>
            <a:r>
              <a:t>Utilized OSINT, Burp Suite, and Nessus to detect API flaws like IDOR and misconfigurations to secure web applications.</a:t>
            </a:r>
          </a:p>
        </p:txBody>
      </p:sp>
      <p:sp>
        <p:nvSpPr>
          <p:cNvPr id="201" name="Shape 7"/>
          <p:cNvSpPr/>
          <p:nvPr/>
        </p:nvSpPr>
        <p:spPr>
          <a:xfrm>
            <a:off x="793790" y="5996582"/>
            <a:ext cx="6419375" cy="1550076"/>
          </a:xfrm>
          <a:prstGeom prst="roundRect">
            <a:avLst>
              <a:gd name="adj" fmla="val 5531"/>
            </a:avLst>
          </a:prstGeom>
          <a:solidFill>
            <a:srgbClr val="E0D7F4"/>
          </a:solidFill>
          <a:ln w="7620">
            <a:solidFill>
              <a:srgbClr val="C6BDDA"/>
            </a:solidFill>
          </a:ln>
        </p:spPr>
        <p:txBody>
          <a:bodyPr lIns="45719" rIns="45719"/>
          <a:lstStyle/>
          <a:p>
            <a:pPr/>
          </a:p>
        </p:txBody>
      </p:sp>
      <p:sp>
        <p:nvSpPr>
          <p:cNvPr id="202" name="Text 8"/>
          <p:cNvSpPr txBox="1"/>
          <p:nvPr/>
        </p:nvSpPr>
        <p:spPr>
          <a:xfrm>
            <a:off x="1005482" y="6208276"/>
            <a:ext cx="3195379" cy="33857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200">
                <a:solidFill>
                  <a:srgbClr val="272525"/>
                </a:solidFill>
                <a:latin typeface="Petrona Bold"/>
                <a:ea typeface="Petrona Bold"/>
                <a:cs typeface="Petrona Bold"/>
                <a:sym typeface="Petrona Bold"/>
              </a:defRPr>
            </a:lvl1pPr>
          </a:lstStyle>
          <a:p>
            <a:pPr/>
            <a:r>
              <a:t>Attack Surface Mapping</a:t>
            </a:r>
          </a:p>
        </p:txBody>
      </p:sp>
      <p:sp>
        <p:nvSpPr>
          <p:cNvPr id="203" name="Text 9"/>
          <p:cNvSpPr txBox="1"/>
          <p:nvPr/>
        </p:nvSpPr>
        <p:spPr>
          <a:xfrm>
            <a:off x="1005482" y="6681548"/>
            <a:ext cx="5995989" cy="6182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600">
                <a:solidFill>
                  <a:srgbClr val="272525"/>
                </a:solidFill>
                <a:latin typeface="Inter"/>
                <a:ea typeface="Inter"/>
                <a:cs typeface="Inter"/>
                <a:sym typeface="Inter"/>
              </a:defRPr>
            </a:lvl1pPr>
          </a:lstStyle>
          <a:p>
            <a:pPr/>
            <a:r>
              <a:t>Performed subdomain enumeration and service detection to reveal digital exposure and potential entry points.</a:t>
            </a:r>
          </a:p>
        </p:txBody>
      </p:sp>
      <p:sp>
        <p:nvSpPr>
          <p:cNvPr id="204" name="Shape 10"/>
          <p:cNvSpPr/>
          <p:nvPr/>
        </p:nvSpPr>
        <p:spPr>
          <a:xfrm>
            <a:off x="7417237" y="5996582"/>
            <a:ext cx="6419375" cy="1550076"/>
          </a:xfrm>
          <a:prstGeom prst="roundRect">
            <a:avLst>
              <a:gd name="adj" fmla="val 5531"/>
            </a:avLst>
          </a:prstGeom>
          <a:solidFill>
            <a:srgbClr val="E0D7F4"/>
          </a:solidFill>
          <a:ln w="7620">
            <a:solidFill>
              <a:srgbClr val="C6BDDA"/>
            </a:solidFill>
          </a:ln>
        </p:spPr>
        <p:txBody>
          <a:bodyPr lIns="45719" rIns="45719"/>
          <a:lstStyle/>
          <a:p>
            <a:pPr/>
          </a:p>
        </p:txBody>
      </p:sp>
      <p:sp>
        <p:nvSpPr>
          <p:cNvPr id="205" name="Text 11"/>
          <p:cNvSpPr txBox="1"/>
          <p:nvPr/>
        </p:nvSpPr>
        <p:spPr>
          <a:xfrm>
            <a:off x="7628929" y="6208276"/>
            <a:ext cx="3412022" cy="33857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200">
                <a:solidFill>
                  <a:srgbClr val="272525"/>
                </a:solidFill>
                <a:latin typeface="Petrona Bold"/>
                <a:ea typeface="Petrona Bold"/>
                <a:cs typeface="Petrona Bold"/>
                <a:sym typeface="Petrona Bold"/>
              </a:defRPr>
            </a:lvl1pPr>
          </a:lstStyle>
          <a:p>
            <a:pPr/>
            <a:r>
              <a:t>Proof of Concept Reports</a:t>
            </a:r>
          </a:p>
        </p:txBody>
      </p:sp>
      <p:sp>
        <p:nvSpPr>
          <p:cNvPr id="206" name="Text 12"/>
          <p:cNvSpPr txBox="1"/>
          <p:nvPr/>
        </p:nvSpPr>
        <p:spPr>
          <a:xfrm>
            <a:off x="7628929" y="6681548"/>
            <a:ext cx="5995988" cy="6182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600">
                <a:solidFill>
                  <a:srgbClr val="272525"/>
                </a:solidFill>
                <a:latin typeface="Inter"/>
                <a:ea typeface="Inter"/>
                <a:cs typeface="Inter"/>
                <a:sym typeface="Inter"/>
              </a:defRPr>
            </a:lvl1pPr>
          </a:lstStyle>
          <a:p>
            <a:pPr/>
            <a:r>
              <a:t>Delivered detailed findings including impact and mitigation strategies to enhance client security measures.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Text 0"/>
          <p:cNvSpPr txBox="1"/>
          <p:nvPr/>
        </p:nvSpPr>
        <p:spPr>
          <a:xfrm>
            <a:off x="793790" y="1559122"/>
            <a:ext cx="3641974" cy="7628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6100"/>
              </a:lnSpc>
              <a:defRPr b="1" sz="4900">
                <a:solidFill>
                  <a:srgbClr val="F95F88"/>
                </a:solidFill>
                <a:latin typeface="Petrona Bold"/>
                <a:ea typeface="Petrona Bold"/>
                <a:cs typeface="Petrona Bold"/>
                <a:sym typeface="Petrona Bold"/>
              </a:defRPr>
            </a:lvl1pPr>
          </a:lstStyle>
          <a:p>
            <a:pPr/>
            <a:r>
              <a:t>Introduction</a:t>
            </a:r>
          </a:p>
        </p:txBody>
      </p:sp>
      <p:sp>
        <p:nvSpPr>
          <p:cNvPr id="209" name="Text 1"/>
          <p:cNvSpPr txBox="1"/>
          <p:nvPr/>
        </p:nvSpPr>
        <p:spPr>
          <a:xfrm>
            <a:off x="793789" y="2758202"/>
            <a:ext cx="6244711" cy="10453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L="342900" indent="-342900">
              <a:lnSpc>
                <a:spcPts val="2800"/>
              </a:lnSpc>
              <a:buSzPct val="100000"/>
              <a:buAutoNum type="arabicPeriod" startAt="1"/>
              <a:defRPr sz="1700">
                <a:solidFill>
                  <a:srgbClr val="272525"/>
                </a:solidFill>
                <a:latin typeface="Inter"/>
                <a:ea typeface="Inter"/>
                <a:cs typeface="Inter"/>
                <a:sym typeface="Inter"/>
              </a:defRPr>
            </a:lvl1pPr>
          </a:lstStyle>
          <a:p>
            <a:pPr/>
            <a:r>
              <a:t>In today’s evolving threat landscape, cybersecurity is critical to protect digital assets from phishing attacks, data breaches, and API vulnerabilities.</a:t>
            </a:r>
          </a:p>
        </p:txBody>
      </p:sp>
      <p:sp>
        <p:nvSpPr>
          <p:cNvPr id="210" name="Text 2"/>
          <p:cNvSpPr txBox="1"/>
          <p:nvPr/>
        </p:nvSpPr>
        <p:spPr>
          <a:xfrm>
            <a:off x="793789" y="3926204"/>
            <a:ext cx="6244711" cy="68973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L="342900" indent="-342900">
              <a:lnSpc>
                <a:spcPts val="2800"/>
              </a:lnSpc>
              <a:buSzPct val="100000"/>
              <a:buAutoNum type="arabicPeriod" startAt="2"/>
              <a:defRPr sz="1700">
                <a:solidFill>
                  <a:srgbClr val="272525"/>
                </a:solidFill>
                <a:latin typeface="Inter"/>
                <a:ea typeface="Inter"/>
                <a:cs typeface="Inter"/>
                <a:sym typeface="Inter"/>
              </a:defRPr>
            </a:lvl1pPr>
          </a:lstStyle>
          <a:p>
            <a:pPr/>
            <a:r>
              <a:t>As a Threat Researcher at Foresiet, I focus on strengthening brand security through:</a:t>
            </a:r>
          </a:p>
        </p:txBody>
      </p:sp>
      <p:sp>
        <p:nvSpPr>
          <p:cNvPr id="211" name="Text 3"/>
          <p:cNvSpPr txBox="1"/>
          <p:nvPr/>
        </p:nvSpPr>
        <p:spPr>
          <a:xfrm>
            <a:off x="793789" y="4856083"/>
            <a:ext cx="127001" cy="3341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800"/>
              </a:lnSpc>
              <a:defRPr sz="1700">
                <a:solidFill>
                  <a:srgbClr val="272525"/>
                </a:solidFill>
                <a:latin typeface="Inter"/>
                <a:ea typeface="Inter"/>
                <a:cs typeface="Inter"/>
                <a:sym typeface="Inter"/>
              </a:defRPr>
            </a:lvl1pPr>
          </a:lstStyle>
          <a:p>
            <a:pPr/>
            <a:r>
              <a:t> </a:t>
            </a:r>
          </a:p>
        </p:txBody>
      </p:sp>
      <p:sp>
        <p:nvSpPr>
          <p:cNvPr id="212" name="Text 5"/>
          <p:cNvSpPr txBox="1"/>
          <p:nvPr/>
        </p:nvSpPr>
        <p:spPr>
          <a:xfrm>
            <a:off x="7599520" y="2758201"/>
            <a:ext cx="3104004" cy="33413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Char char="•"/>
              <a:defRPr sz="1700">
                <a:solidFill>
                  <a:srgbClr val="272525"/>
                </a:solidFill>
                <a:latin typeface="Inter"/>
                <a:ea typeface="Inter"/>
                <a:cs typeface="Inter"/>
                <a:sym typeface="Inter"/>
              </a:defRPr>
            </a:lvl1pPr>
          </a:lstStyle>
          <a:p>
            <a:pPr/>
            <a:r>
              <a:t>Brand Reputation Monitoring</a:t>
            </a:r>
          </a:p>
        </p:txBody>
      </p:sp>
      <p:sp>
        <p:nvSpPr>
          <p:cNvPr id="213" name="Text 6"/>
          <p:cNvSpPr txBox="1"/>
          <p:nvPr/>
        </p:nvSpPr>
        <p:spPr>
          <a:xfrm>
            <a:off x="7599520" y="3200400"/>
            <a:ext cx="5608043" cy="3341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Char char="•"/>
              <a:defRPr sz="1700">
                <a:solidFill>
                  <a:srgbClr val="272525"/>
                </a:solidFill>
                <a:latin typeface="Inter"/>
                <a:ea typeface="Inter"/>
                <a:cs typeface="Inter"/>
                <a:sym typeface="Inter"/>
              </a:defRPr>
            </a:lvl1pPr>
          </a:lstStyle>
          <a:p>
            <a:pPr/>
            <a:r>
              <a:t>Vulnerability Assessment &amp; Penetration Testing (VAPT)</a:t>
            </a:r>
          </a:p>
        </p:txBody>
      </p:sp>
      <p:sp>
        <p:nvSpPr>
          <p:cNvPr id="214" name="Text 7"/>
          <p:cNvSpPr txBox="1"/>
          <p:nvPr/>
        </p:nvSpPr>
        <p:spPr>
          <a:xfrm>
            <a:off x="7599520" y="3642597"/>
            <a:ext cx="2283731" cy="33413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Char char="•"/>
              <a:defRPr sz="1700">
                <a:solidFill>
                  <a:srgbClr val="272525"/>
                </a:solidFill>
                <a:latin typeface="Inter"/>
                <a:ea typeface="Inter"/>
                <a:cs typeface="Inter"/>
                <a:sym typeface="Inter"/>
              </a:defRPr>
            </a:lvl1pPr>
          </a:lstStyle>
          <a:p>
            <a:pPr/>
            <a:r>
              <a:t>API Security Testing</a:t>
            </a:r>
          </a:p>
        </p:txBody>
      </p:sp>
      <p:sp>
        <p:nvSpPr>
          <p:cNvPr id="215" name="Text 8"/>
          <p:cNvSpPr txBox="1"/>
          <p:nvPr/>
        </p:nvSpPr>
        <p:spPr>
          <a:xfrm>
            <a:off x="7599520" y="4084796"/>
            <a:ext cx="2971913" cy="3341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Char char="•"/>
              <a:defRPr sz="1700">
                <a:solidFill>
                  <a:srgbClr val="272525"/>
                </a:solidFill>
                <a:latin typeface="Inter"/>
                <a:ea typeface="Inter"/>
                <a:cs typeface="Inter"/>
                <a:sym typeface="Inter"/>
              </a:defRPr>
            </a:lvl1pPr>
          </a:lstStyle>
          <a:p>
            <a:pPr/>
            <a:r>
              <a:t>Proof of Concept Reporting</a:t>
            </a:r>
          </a:p>
        </p:txBody>
      </p:sp>
      <p:sp>
        <p:nvSpPr>
          <p:cNvPr id="216" name="Text 9"/>
          <p:cNvSpPr txBox="1"/>
          <p:nvPr/>
        </p:nvSpPr>
        <p:spPr>
          <a:xfrm>
            <a:off x="7599520" y="4651771"/>
            <a:ext cx="6244710" cy="140093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800"/>
              </a:lnSpc>
              <a:defRPr sz="1700">
                <a:solidFill>
                  <a:srgbClr val="272525"/>
                </a:solidFill>
                <a:latin typeface="Inter"/>
                <a:ea typeface="Inter"/>
                <a:cs typeface="Inter"/>
                <a:sym typeface="Inter"/>
              </a:defRPr>
            </a:lvl1pPr>
          </a:lstStyle>
          <a:p>
            <a:pPr/>
            <a:r>
              <a:t>For example, incidents like Uber’s 2022 breach — where attackers exploited hardcoded credentials found in exposed code repositories — clearly highlight the importance of early threat detection and strong brand protection strategies.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8" name="Image 0" descr="Image 0"/>
          <p:cNvPicPr>
            <a:picLocks noChangeAspect="1"/>
          </p:cNvPicPr>
          <p:nvPr/>
        </p:nvPicPr>
        <p:blipFill>
          <a:blip r:embed="rId2">
            <a:extLst/>
          </a:blip>
          <a:stretch>
            <a:fillRect/>
          </a:stretch>
        </p:blipFill>
        <p:spPr>
          <a:xfrm>
            <a:off x="9144000" y="0"/>
            <a:ext cx="5486400" cy="8229600"/>
          </a:xfrm>
          <a:prstGeom prst="rect">
            <a:avLst/>
          </a:prstGeom>
          <a:ln w="12700">
            <a:miter lim="400000"/>
          </a:ln>
        </p:spPr>
      </p:pic>
      <p:sp>
        <p:nvSpPr>
          <p:cNvPr id="219" name="Text 0"/>
          <p:cNvSpPr txBox="1"/>
          <p:nvPr/>
        </p:nvSpPr>
        <p:spPr>
          <a:xfrm>
            <a:off x="793790" y="1634133"/>
            <a:ext cx="7556421" cy="15375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6100"/>
              </a:lnSpc>
              <a:defRPr b="1" sz="4900">
                <a:solidFill>
                  <a:srgbClr val="F95F88"/>
                </a:solidFill>
                <a:latin typeface="Petrona Bold"/>
                <a:ea typeface="Petrona Bold"/>
                <a:cs typeface="Petrona Bold"/>
                <a:sym typeface="Petrona Bold"/>
              </a:defRPr>
            </a:lvl1pPr>
          </a:lstStyle>
          <a:p>
            <a:pPr/>
            <a:r>
              <a:t>Background and Inspiration</a:t>
            </a:r>
          </a:p>
        </p:txBody>
      </p:sp>
      <p:sp>
        <p:nvSpPr>
          <p:cNvPr id="220" name="Text 1"/>
          <p:cNvSpPr txBox="1"/>
          <p:nvPr/>
        </p:nvSpPr>
        <p:spPr>
          <a:xfrm>
            <a:off x="793790" y="3533537"/>
            <a:ext cx="7556421" cy="6897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L="342900" indent="-342900">
              <a:lnSpc>
                <a:spcPts val="2800"/>
              </a:lnSpc>
              <a:buSzPct val="100000"/>
              <a:buAutoNum type="arabicPeriod" startAt="1"/>
              <a:defRPr sz="1700">
                <a:solidFill>
                  <a:srgbClr val="272525"/>
                </a:solidFill>
                <a:latin typeface="Inter"/>
                <a:ea typeface="Inter"/>
                <a:cs typeface="Inter"/>
                <a:sym typeface="Inter"/>
              </a:defRPr>
            </a:lvl1pPr>
          </a:lstStyle>
          <a:p>
            <a:pPr/>
            <a:r>
              <a:t>The rise in cyber threats — from impersonation attacks to credential leaks — highlighted the urgent need for continuous brand protection.</a:t>
            </a:r>
          </a:p>
        </p:txBody>
      </p:sp>
      <p:sp>
        <p:nvSpPr>
          <p:cNvPr id="221" name="Text 2"/>
          <p:cNvSpPr txBox="1"/>
          <p:nvPr/>
        </p:nvSpPr>
        <p:spPr>
          <a:xfrm>
            <a:off x="793790" y="4701540"/>
            <a:ext cx="7556421" cy="68973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L="342900" indent="-342900">
              <a:lnSpc>
                <a:spcPts val="2800"/>
              </a:lnSpc>
              <a:buSzPct val="100000"/>
              <a:buAutoNum type="arabicPeriod" startAt="2"/>
              <a:defRPr sz="1700">
                <a:solidFill>
                  <a:srgbClr val="272525"/>
                </a:solidFill>
                <a:latin typeface="Inter"/>
                <a:ea typeface="Inter"/>
                <a:cs typeface="Inter"/>
                <a:sym typeface="Inter"/>
              </a:defRPr>
            </a:lvl1pPr>
          </a:lstStyle>
          <a:p>
            <a:pPr/>
            <a:r>
              <a:t>In my daily work as a Threat Researcher at Foresiet, I have seen how lack of proactive intelligence leads to reputational damage and regulatory risks.</a:t>
            </a:r>
          </a:p>
        </p:txBody>
      </p:sp>
      <p:sp>
        <p:nvSpPr>
          <p:cNvPr id="222" name="Text 3"/>
          <p:cNvSpPr txBox="1"/>
          <p:nvPr/>
        </p:nvSpPr>
        <p:spPr>
          <a:xfrm>
            <a:off x="793790" y="5869542"/>
            <a:ext cx="7556421" cy="68973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L="342900" indent="-342900">
              <a:lnSpc>
                <a:spcPts val="2800"/>
              </a:lnSpc>
              <a:buSzPct val="100000"/>
              <a:buAutoNum type="arabicPeriod" startAt="3"/>
              <a:defRPr sz="1700">
                <a:solidFill>
                  <a:srgbClr val="272525"/>
                </a:solidFill>
                <a:latin typeface="Inter"/>
                <a:ea typeface="Inter"/>
                <a:cs typeface="Inter"/>
                <a:sym typeface="Inter"/>
              </a:defRPr>
            </a:lvl1pPr>
          </a:lstStyle>
          <a:p>
            <a:pPr/>
            <a:r>
              <a:t>This experience drives my commitment to building stronger, smarter defenses against evolving digital threats.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24" name="Image 0" descr="Image 0"/>
          <p:cNvPicPr>
            <a:picLocks noChangeAspect="1"/>
          </p:cNvPicPr>
          <p:nvPr/>
        </p:nvPicPr>
        <p:blipFill>
          <a:blip r:embed="rId2">
            <a:extLst/>
          </a:blip>
          <a:stretch>
            <a:fillRect/>
          </a:stretch>
        </p:blipFill>
        <p:spPr>
          <a:xfrm>
            <a:off x="9144000" y="0"/>
            <a:ext cx="5486400" cy="8229600"/>
          </a:xfrm>
          <a:prstGeom prst="rect">
            <a:avLst/>
          </a:prstGeom>
          <a:ln w="12700">
            <a:miter lim="400000"/>
          </a:ln>
        </p:spPr>
      </p:pic>
      <p:sp>
        <p:nvSpPr>
          <p:cNvPr id="225" name="Text 0"/>
          <p:cNvSpPr txBox="1"/>
          <p:nvPr/>
        </p:nvSpPr>
        <p:spPr>
          <a:xfrm>
            <a:off x="793790" y="683537"/>
            <a:ext cx="7556421" cy="12340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4900"/>
              </a:lnSpc>
              <a:defRPr b="1" sz="3900">
                <a:solidFill>
                  <a:srgbClr val="F95F88"/>
                </a:solidFill>
                <a:latin typeface="Petrona Bold"/>
                <a:ea typeface="Petrona Bold"/>
                <a:cs typeface="Petrona Bold"/>
                <a:sym typeface="Petrona Bold"/>
              </a:defRPr>
            </a:lvl1pPr>
          </a:lstStyle>
          <a:p>
            <a:pPr/>
            <a:r>
              <a:t>Design and Development Approach</a:t>
            </a:r>
          </a:p>
        </p:txBody>
      </p:sp>
      <p:sp>
        <p:nvSpPr>
          <p:cNvPr id="226" name="Shape 1"/>
          <p:cNvSpPr/>
          <p:nvPr/>
        </p:nvSpPr>
        <p:spPr>
          <a:xfrm>
            <a:off x="793790" y="2203013"/>
            <a:ext cx="408266" cy="408266"/>
          </a:xfrm>
          <a:prstGeom prst="roundRect">
            <a:avLst>
              <a:gd name="adj" fmla="val 18668"/>
            </a:avLst>
          </a:prstGeom>
          <a:solidFill>
            <a:srgbClr val="E0D7F4"/>
          </a:solidFill>
          <a:ln w="7620">
            <a:solidFill>
              <a:srgbClr val="C6BDDA"/>
            </a:solidFill>
          </a:ln>
        </p:spPr>
        <p:txBody>
          <a:bodyPr lIns="45719" rIns="45719"/>
          <a:lstStyle/>
          <a:p>
            <a:pPr/>
          </a:p>
        </p:txBody>
      </p:sp>
      <p:sp>
        <p:nvSpPr>
          <p:cNvPr id="227" name="Text 2"/>
          <p:cNvSpPr txBox="1"/>
          <p:nvPr/>
        </p:nvSpPr>
        <p:spPr>
          <a:xfrm>
            <a:off x="910286" y="2219979"/>
            <a:ext cx="175153" cy="30085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300"/>
              </a:lnSpc>
              <a:defRPr b="1" sz="2300">
                <a:solidFill>
                  <a:srgbClr val="272525"/>
                </a:solidFill>
                <a:latin typeface="Petrona Bold"/>
                <a:ea typeface="Petrona Bold"/>
                <a:cs typeface="Petrona Bold"/>
                <a:sym typeface="Petrona Bold"/>
              </a:defRPr>
            </a:lvl1pPr>
          </a:lstStyle>
          <a:p>
            <a:pPr/>
            <a:r>
              <a:t>1</a:t>
            </a:r>
          </a:p>
        </p:txBody>
      </p:sp>
      <p:sp>
        <p:nvSpPr>
          <p:cNvPr id="228" name="Text 3"/>
          <p:cNvSpPr txBox="1"/>
          <p:nvPr/>
        </p:nvSpPr>
        <p:spPr>
          <a:xfrm>
            <a:off x="1383505" y="2265283"/>
            <a:ext cx="3994976" cy="29933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b="1" sz="1900">
                <a:solidFill>
                  <a:srgbClr val="272525"/>
                </a:solidFill>
                <a:latin typeface="Petrona Bold"/>
                <a:ea typeface="Petrona Bold"/>
                <a:cs typeface="Petrona Bold"/>
                <a:sym typeface="Petrona Bold"/>
              </a:defRPr>
            </a:lvl1pPr>
          </a:lstStyle>
          <a:p>
            <a:pPr/>
            <a:r>
              <a:t>Daily OSINT Intelligence Gathering</a:t>
            </a:r>
          </a:p>
        </p:txBody>
      </p:sp>
      <p:sp>
        <p:nvSpPr>
          <p:cNvPr id="229" name="Text 4"/>
          <p:cNvSpPr txBox="1"/>
          <p:nvPr/>
        </p:nvSpPr>
        <p:spPr>
          <a:xfrm>
            <a:off x="1383505" y="2686049"/>
            <a:ext cx="6966706" cy="5438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200"/>
              </a:lnSpc>
              <a:defRPr sz="1400">
                <a:solidFill>
                  <a:srgbClr val="272525"/>
                </a:solidFill>
                <a:latin typeface="Inter"/>
                <a:ea typeface="Inter"/>
                <a:cs typeface="Inter"/>
                <a:sym typeface="Inter"/>
              </a:defRPr>
            </a:lvl1pPr>
          </a:lstStyle>
          <a:p>
            <a:pPr/>
            <a:r>
              <a:t>Employing advanced google dorking and data mining techniques to identify threats and leaks.</a:t>
            </a:r>
          </a:p>
        </p:txBody>
      </p:sp>
      <p:sp>
        <p:nvSpPr>
          <p:cNvPr id="230" name="Shape 5"/>
          <p:cNvSpPr/>
          <p:nvPr/>
        </p:nvSpPr>
        <p:spPr>
          <a:xfrm>
            <a:off x="793790" y="3629500"/>
            <a:ext cx="408266" cy="408266"/>
          </a:xfrm>
          <a:prstGeom prst="roundRect">
            <a:avLst>
              <a:gd name="adj" fmla="val 18668"/>
            </a:avLst>
          </a:prstGeom>
          <a:solidFill>
            <a:srgbClr val="E0D7F4"/>
          </a:solidFill>
          <a:ln w="7620">
            <a:solidFill>
              <a:srgbClr val="C6BDDA"/>
            </a:solidFill>
          </a:ln>
        </p:spPr>
        <p:txBody>
          <a:bodyPr lIns="45719" rIns="45719"/>
          <a:lstStyle/>
          <a:p>
            <a:pPr/>
          </a:p>
        </p:txBody>
      </p:sp>
      <p:sp>
        <p:nvSpPr>
          <p:cNvPr id="231" name="Text 6"/>
          <p:cNvSpPr txBox="1"/>
          <p:nvPr/>
        </p:nvSpPr>
        <p:spPr>
          <a:xfrm>
            <a:off x="910286" y="3646468"/>
            <a:ext cx="175153" cy="30085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300"/>
              </a:lnSpc>
              <a:defRPr b="1" sz="2300">
                <a:solidFill>
                  <a:srgbClr val="272525"/>
                </a:solidFill>
                <a:latin typeface="Petrona Bold"/>
                <a:ea typeface="Petrona Bold"/>
                <a:cs typeface="Petrona Bold"/>
                <a:sym typeface="Petrona Bold"/>
              </a:defRPr>
            </a:lvl1pPr>
          </a:lstStyle>
          <a:p>
            <a:pPr/>
            <a:r>
              <a:t>2</a:t>
            </a:r>
          </a:p>
        </p:txBody>
      </p:sp>
      <p:sp>
        <p:nvSpPr>
          <p:cNvPr id="232" name="Text 7"/>
          <p:cNvSpPr txBox="1"/>
          <p:nvPr/>
        </p:nvSpPr>
        <p:spPr>
          <a:xfrm>
            <a:off x="1383506" y="3691771"/>
            <a:ext cx="4302491" cy="29933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b="1" sz="1900">
                <a:solidFill>
                  <a:srgbClr val="272525"/>
                </a:solidFill>
                <a:latin typeface="Petrona Bold"/>
                <a:ea typeface="Petrona Bold"/>
                <a:cs typeface="Petrona Bold"/>
                <a:sym typeface="Petrona Bold"/>
              </a:defRPr>
            </a:lvl1pPr>
          </a:lstStyle>
          <a:p>
            <a:pPr/>
            <a:r>
              <a:t>Brand Keyword &amp; Domain Monitoring</a:t>
            </a:r>
          </a:p>
        </p:txBody>
      </p:sp>
      <p:sp>
        <p:nvSpPr>
          <p:cNvPr id="233" name="Text 8"/>
          <p:cNvSpPr txBox="1"/>
          <p:nvPr/>
        </p:nvSpPr>
        <p:spPr>
          <a:xfrm>
            <a:off x="1383505" y="4112538"/>
            <a:ext cx="6966706" cy="2644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200"/>
              </a:lnSpc>
              <a:defRPr sz="1400">
                <a:solidFill>
                  <a:srgbClr val="272525"/>
                </a:solidFill>
                <a:latin typeface="Inter"/>
                <a:ea typeface="Inter"/>
                <a:cs typeface="Inter"/>
                <a:sym typeface="Inter"/>
              </a:defRPr>
            </a:lvl1pPr>
          </a:lstStyle>
          <a:p>
            <a:pPr/>
            <a:r>
              <a:t>Tracking domain variants and brand mentions across digital and app store platforms.</a:t>
            </a:r>
          </a:p>
        </p:txBody>
      </p:sp>
      <p:sp>
        <p:nvSpPr>
          <p:cNvPr id="234" name="Shape 9"/>
          <p:cNvSpPr/>
          <p:nvPr/>
        </p:nvSpPr>
        <p:spPr>
          <a:xfrm>
            <a:off x="793790" y="5055989"/>
            <a:ext cx="408266" cy="408266"/>
          </a:xfrm>
          <a:prstGeom prst="roundRect">
            <a:avLst>
              <a:gd name="adj" fmla="val 18668"/>
            </a:avLst>
          </a:prstGeom>
          <a:solidFill>
            <a:srgbClr val="E0D7F4"/>
          </a:solidFill>
          <a:ln w="7620">
            <a:solidFill>
              <a:srgbClr val="C6BDDA"/>
            </a:solidFill>
          </a:ln>
        </p:spPr>
        <p:txBody>
          <a:bodyPr lIns="45719" rIns="45719"/>
          <a:lstStyle/>
          <a:p>
            <a:pPr/>
          </a:p>
        </p:txBody>
      </p:sp>
      <p:sp>
        <p:nvSpPr>
          <p:cNvPr id="235" name="Text 10"/>
          <p:cNvSpPr txBox="1"/>
          <p:nvPr/>
        </p:nvSpPr>
        <p:spPr>
          <a:xfrm>
            <a:off x="910286" y="5072955"/>
            <a:ext cx="175153" cy="30085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300"/>
              </a:lnSpc>
              <a:defRPr b="1" sz="2300">
                <a:solidFill>
                  <a:srgbClr val="272525"/>
                </a:solidFill>
                <a:latin typeface="Petrona Bold"/>
                <a:ea typeface="Petrona Bold"/>
                <a:cs typeface="Petrona Bold"/>
                <a:sym typeface="Petrona Bold"/>
              </a:defRPr>
            </a:lvl1pPr>
          </a:lstStyle>
          <a:p>
            <a:pPr/>
            <a:r>
              <a:t>3</a:t>
            </a:r>
          </a:p>
        </p:txBody>
      </p:sp>
      <p:sp>
        <p:nvSpPr>
          <p:cNvPr id="236" name="Text 11"/>
          <p:cNvSpPr txBox="1"/>
          <p:nvPr/>
        </p:nvSpPr>
        <p:spPr>
          <a:xfrm>
            <a:off x="1383505" y="5118258"/>
            <a:ext cx="5429227" cy="29933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b="1" sz="1900">
                <a:solidFill>
                  <a:srgbClr val="272525"/>
                </a:solidFill>
                <a:latin typeface="Petrona Bold"/>
                <a:ea typeface="Petrona Bold"/>
                <a:cs typeface="Petrona Bold"/>
                <a:sym typeface="Petrona Bold"/>
              </a:defRPr>
            </a:lvl1pPr>
          </a:lstStyle>
          <a:p>
            <a:pPr/>
            <a:r>
              <a:t>Manual Profile and Code Repository Inspection</a:t>
            </a:r>
          </a:p>
        </p:txBody>
      </p:sp>
      <p:sp>
        <p:nvSpPr>
          <p:cNvPr id="237" name="Text 12"/>
          <p:cNvSpPr txBox="1"/>
          <p:nvPr/>
        </p:nvSpPr>
        <p:spPr>
          <a:xfrm>
            <a:off x="1383505" y="5539025"/>
            <a:ext cx="6966706" cy="264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200"/>
              </a:lnSpc>
              <a:defRPr sz="1400">
                <a:solidFill>
                  <a:srgbClr val="272525"/>
                </a:solidFill>
                <a:latin typeface="Inter"/>
                <a:ea typeface="Inter"/>
                <a:cs typeface="Inter"/>
                <a:sym typeface="Inter"/>
              </a:defRPr>
            </a:lvl1pPr>
          </a:lstStyle>
          <a:p>
            <a:pPr/>
            <a:r>
              <a:t>Identifying impostor accounts and exposed credentials through hands-on analysis.</a:t>
            </a:r>
          </a:p>
        </p:txBody>
      </p:sp>
      <p:sp>
        <p:nvSpPr>
          <p:cNvPr id="238" name="Shape 13"/>
          <p:cNvSpPr/>
          <p:nvPr/>
        </p:nvSpPr>
        <p:spPr>
          <a:xfrm>
            <a:off x="793790" y="6482477"/>
            <a:ext cx="408266" cy="408266"/>
          </a:xfrm>
          <a:prstGeom prst="roundRect">
            <a:avLst>
              <a:gd name="adj" fmla="val 18668"/>
            </a:avLst>
          </a:prstGeom>
          <a:solidFill>
            <a:srgbClr val="E0D7F4"/>
          </a:solidFill>
          <a:ln w="7620">
            <a:solidFill>
              <a:srgbClr val="C6BDDA"/>
            </a:solidFill>
          </a:ln>
        </p:spPr>
        <p:txBody>
          <a:bodyPr lIns="45719" rIns="45719"/>
          <a:lstStyle/>
          <a:p>
            <a:pPr/>
          </a:p>
        </p:txBody>
      </p:sp>
      <p:sp>
        <p:nvSpPr>
          <p:cNvPr id="239" name="Text 14"/>
          <p:cNvSpPr txBox="1"/>
          <p:nvPr/>
        </p:nvSpPr>
        <p:spPr>
          <a:xfrm>
            <a:off x="910286" y="6499442"/>
            <a:ext cx="175153" cy="30085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300"/>
              </a:lnSpc>
              <a:defRPr b="1" sz="2300">
                <a:solidFill>
                  <a:srgbClr val="272525"/>
                </a:solidFill>
                <a:latin typeface="Petrona Bold"/>
                <a:ea typeface="Petrona Bold"/>
                <a:cs typeface="Petrona Bold"/>
                <a:sym typeface="Petrona Bold"/>
              </a:defRPr>
            </a:lvl1pPr>
          </a:lstStyle>
          <a:p>
            <a:pPr/>
            <a:r>
              <a:t>4</a:t>
            </a:r>
          </a:p>
        </p:txBody>
      </p:sp>
      <p:sp>
        <p:nvSpPr>
          <p:cNvPr id="240" name="Text 15"/>
          <p:cNvSpPr txBox="1"/>
          <p:nvPr/>
        </p:nvSpPr>
        <p:spPr>
          <a:xfrm>
            <a:off x="1383506" y="6544747"/>
            <a:ext cx="4701084" cy="29933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b="1" sz="1900">
                <a:solidFill>
                  <a:srgbClr val="272525"/>
                </a:solidFill>
                <a:latin typeface="Petrona Bold"/>
                <a:ea typeface="Petrona Bold"/>
                <a:cs typeface="Petrona Bold"/>
                <a:sym typeface="Petrona Bold"/>
              </a:defRPr>
            </a:lvl1pPr>
          </a:lstStyle>
          <a:p>
            <a:pPr/>
            <a:r>
              <a:t>Comprehensive VAPT on Client Domains</a:t>
            </a:r>
          </a:p>
        </p:txBody>
      </p:sp>
      <p:sp>
        <p:nvSpPr>
          <p:cNvPr id="241" name="Text 16"/>
          <p:cNvSpPr txBox="1"/>
          <p:nvPr/>
        </p:nvSpPr>
        <p:spPr>
          <a:xfrm>
            <a:off x="1383505" y="6965512"/>
            <a:ext cx="6966706" cy="5438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200"/>
              </a:lnSpc>
              <a:defRPr sz="1400">
                <a:solidFill>
                  <a:srgbClr val="272525"/>
                </a:solidFill>
                <a:latin typeface="Inter"/>
                <a:ea typeface="Inter"/>
                <a:cs typeface="Inter"/>
                <a:sym typeface="Inter"/>
              </a:defRPr>
            </a:lvl1pPr>
          </a:lstStyle>
          <a:p>
            <a:pPr/>
            <a:r>
              <a:t>Including API penetration testing to discover security weaknesses and misconfigurations.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Text 0"/>
          <p:cNvSpPr txBox="1"/>
          <p:nvPr/>
        </p:nvSpPr>
        <p:spPr>
          <a:xfrm>
            <a:off x="793789" y="1621392"/>
            <a:ext cx="8620071" cy="7628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6100"/>
              </a:lnSpc>
              <a:defRPr b="1" sz="4900">
                <a:solidFill>
                  <a:srgbClr val="F95F88"/>
                </a:solidFill>
                <a:latin typeface="Petrona Bold"/>
                <a:ea typeface="Petrona Bold"/>
                <a:cs typeface="Petrona Bold"/>
                <a:sym typeface="Petrona Bold"/>
              </a:defRPr>
            </a:lvl1pPr>
          </a:lstStyle>
          <a:p>
            <a:pPr/>
            <a:r>
              <a:t>Brand Reputation Monitoring</a:t>
            </a:r>
          </a:p>
        </p:txBody>
      </p:sp>
      <p:sp>
        <p:nvSpPr>
          <p:cNvPr id="244" name="Text 1"/>
          <p:cNvSpPr txBox="1"/>
          <p:nvPr/>
        </p:nvSpPr>
        <p:spPr>
          <a:xfrm>
            <a:off x="793789" y="2820472"/>
            <a:ext cx="6244711" cy="17565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L="342900" indent="-342900">
              <a:lnSpc>
                <a:spcPts val="2800"/>
              </a:lnSpc>
              <a:buSzPct val="100000"/>
              <a:buAutoNum type="arabicPeriod" startAt="1"/>
              <a:defRPr sz="1700">
                <a:solidFill>
                  <a:srgbClr val="272525"/>
                </a:solidFill>
                <a:latin typeface="Inter"/>
                <a:ea typeface="Inter"/>
                <a:cs typeface="Inter"/>
                <a:sym typeface="Inter"/>
              </a:defRPr>
            </a:lvl1pPr>
          </a:lstStyle>
          <a:p>
            <a:pPr/>
            <a:r>
              <a:t>Daily OSINT investigations focus on detecting fake social media accounts, cloned mobile apps, and leaked sensitive data in public repositories. Techniques include searching GitHub for exposed tokens and reviewing app stores for fraudulent branding.</a:t>
            </a:r>
          </a:p>
        </p:txBody>
      </p:sp>
      <p:sp>
        <p:nvSpPr>
          <p:cNvPr id="245" name="Text 2"/>
          <p:cNvSpPr txBox="1"/>
          <p:nvPr/>
        </p:nvSpPr>
        <p:spPr>
          <a:xfrm>
            <a:off x="793789" y="5077181"/>
            <a:ext cx="6244711" cy="104533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L="342900" indent="-342900">
              <a:lnSpc>
                <a:spcPts val="2800"/>
              </a:lnSpc>
              <a:buSzPct val="100000"/>
              <a:buAutoNum type="arabicPeriod" startAt="2"/>
              <a:defRPr sz="1700">
                <a:solidFill>
                  <a:srgbClr val="272525"/>
                </a:solidFill>
                <a:latin typeface="Inter"/>
                <a:ea typeface="Inter"/>
                <a:cs typeface="Inter"/>
                <a:sym typeface="Inter"/>
              </a:defRPr>
            </a:lvl1pPr>
          </a:lstStyle>
          <a:p>
            <a:pPr/>
            <a:r>
              <a:t>Proactive measures such as filing DMCA takedown requests are initiated to counteract identified threats, preserving brand integrity and preventing data misuse effectively.</a:t>
            </a:r>
          </a:p>
        </p:txBody>
      </p:sp>
      <p:sp>
        <p:nvSpPr>
          <p:cNvPr id="246" name="Text 3"/>
          <p:cNvSpPr txBox="1"/>
          <p:nvPr/>
        </p:nvSpPr>
        <p:spPr>
          <a:xfrm>
            <a:off x="7599520" y="2820472"/>
            <a:ext cx="4100328" cy="3341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Char char="•"/>
              <a:defRPr sz="1700">
                <a:solidFill>
                  <a:srgbClr val="272525"/>
                </a:solidFill>
                <a:latin typeface="Inter"/>
                <a:ea typeface="Inter"/>
                <a:cs typeface="Inter"/>
                <a:sym typeface="Inter"/>
              </a:defRPr>
            </a:lvl1pPr>
          </a:lstStyle>
          <a:p>
            <a:pPr/>
            <a:r>
              <a:t>Fake accounts detection and takedown</a:t>
            </a:r>
          </a:p>
        </p:txBody>
      </p:sp>
      <p:sp>
        <p:nvSpPr>
          <p:cNvPr id="247" name="Text 4"/>
          <p:cNvSpPr txBox="1"/>
          <p:nvPr/>
        </p:nvSpPr>
        <p:spPr>
          <a:xfrm>
            <a:off x="7599520" y="3262669"/>
            <a:ext cx="4352387" cy="33413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Char char="•"/>
              <a:defRPr sz="1700">
                <a:solidFill>
                  <a:srgbClr val="272525"/>
                </a:solidFill>
                <a:latin typeface="Inter"/>
                <a:ea typeface="Inter"/>
                <a:cs typeface="Inter"/>
                <a:sym typeface="Inter"/>
              </a:defRPr>
            </a:lvl1pPr>
          </a:lstStyle>
          <a:p>
            <a:pPr/>
            <a:r>
              <a:t>Logo and brand impersonation monitoring</a:t>
            </a:r>
          </a:p>
        </p:txBody>
      </p:sp>
      <p:sp>
        <p:nvSpPr>
          <p:cNvPr id="248" name="Text 5"/>
          <p:cNvSpPr txBox="1"/>
          <p:nvPr/>
        </p:nvSpPr>
        <p:spPr>
          <a:xfrm>
            <a:off x="7599520" y="3704868"/>
            <a:ext cx="4747817" cy="3341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Char char="•"/>
              <a:defRPr sz="1700">
                <a:solidFill>
                  <a:srgbClr val="272525"/>
                </a:solidFill>
                <a:latin typeface="Inter"/>
                <a:ea typeface="Inter"/>
                <a:cs typeface="Inter"/>
                <a:sym typeface="Inter"/>
              </a:defRPr>
            </a:lvl1pPr>
          </a:lstStyle>
          <a:p>
            <a:pPr/>
            <a:r>
              <a:t>Public repository scanning for credential leaks</a:t>
            </a:r>
          </a:p>
        </p:txBody>
      </p:sp>
      <p:sp>
        <p:nvSpPr>
          <p:cNvPr id="249" name="Text 6"/>
          <p:cNvSpPr txBox="1"/>
          <p:nvPr/>
        </p:nvSpPr>
        <p:spPr>
          <a:xfrm>
            <a:off x="7599520" y="4147065"/>
            <a:ext cx="4484372" cy="33413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Char char="•"/>
              <a:defRPr sz="1700">
                <a:solidFill>
                  <a:srgbClr val="272525"/>
                </a:solidFill>
                <a:latin typeface="Inter"/>
                <a:ea typeface="Inter"/>
                <a:cs typeface="Inter"/>
                <a:sym typeface="Inter"/>
              </a:defRPr>
            </a:lvl1pPr>
          </a:lstStyle>
          <a:p>
            <a:pPr/>
            <a:r>
              <a:t>App store fake and cloned app surveillance</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Text 0"/>
          <p:cNvSpPr txBox="1"/>
          <p:nvPr/>
        </p:nvSpPr>
        <p:spPr>
          <a:xfrm>
            <a:off x="793790" y="1306472"/>
            <a:ext cx="5674172" cy="7628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6100"/>
              </a:lnSpc>
              <a:defRPr b="1" sz="4900">
                <a:solidFill>
                  <a:srgbClr val="F95F88"/>
                </a:solidFill>
                <a:latin typeface="Petrona Bold"/>
                <a:ea typeface="Petrona Bold"/>
                <a:cs typeface="Petrona Bold"/>
                <a:sym typeface="Petrona Bold"/>
              </a:defRPr>
            </a:lvl1pPr>
          </a:lstStyle>
          <a:p>
            <a:pPr/>
            <a:r>
              <a:t>Real Time Example</a:t>
            </a:r>
          </a:p>
        </p:txBody>
      </p:sp>
      <p:sp>
        <p:nvSpPr>
          <p:cNvPr id="252" name="Text 1"/>
          <p:cNvSpPr txBox="1"/>
          <p:nvPr/>
        </p:nvSpPr>
        <p:spPr>
          <a:xfrm>
            <a:off x="793790" y="2426255"/>
            <a:ext cx="5810607" cy="75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000"/>
              </a:lnSpc>
              <a:defRPr b="1" sz="2400">
                <a:solidFill>
                  <a:srgbClr val="272525"/>
                </a:solidFill>
                <a:latin typeface="Petrona Bold"/>
                <a:ea typeface="Petrona Bold"/>
                <a:cs typeface="Petrona Bold"/>
                <a:sym typeface="Petrona Bold"/>
              </a:defRPr>
            </a:lvl1pPr>
          </a:lstStyle>
          <a:p>
            <a:pPr/>
            <a:r>
              <a:t>Brand monitoring on the RGUKT Nuzvid </a:t>
            </a:r>
            <a:endParaRPr>
              <a:solidFill>
                <a:srgbClr val="F95F88"/>
              </a:solidFill>
            </a:endParaRPr>
          </a:p>
        </p:txBody>
      </p:sp>
      <p:pic>
        <p:nvPicPr>
          <p:cNvPr id="253" name="Image 0" descr="Image 0"/>
          <p:cNvPicPr>
            <a:picLocks noChangeAspect="1"/>
          </p:cNvPicPr>
          <p:nvPr/>
        </p:nvPicPr>
        <p:blipFill>
          <a:blip r:embed="rId2">
            <a:extLst/>
          </a:blip>
          <a:stretch>
            <a:fillRect/>
          </a:stretch>
        </p:blipFill>
        <p:spPr>
          <a:xfrm>
            <a:off x="3739277" y="3692247"/>
            <a:ext cx="7151728" cy="2721889"/>
          </a:xfrm>
          <a:prstGeom prst="rect">
            <a:avLst/>
          </a:prstGeom>
          <a:ln w="12700">
            <a:miter lim="400000"/>
          </a:ln>
        </p:spPr>
      </p:pic>
      <p:sp>
        <p:nvSpPr>
          <p:cNvPr id="254" name="Text 2"/>
          <p:cNvSpPr txBox="1"/>
          <p:nvPr/>
        </p:nvSpPr>
        <p:spPr>
          <a:xfrm>
            <a:off x="793790" y="6560105"/>
            <a:ext cx="3787968" cy="33413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Char char="•"/>
              <a:defRPr sz="1700">
                <a:solidFill>
                  <a:srgbClr val="272525"/>
                </a:solidFill>
                <a:latin typeface="Inter"/>
                <a:ea typeface="Inter"/>
                <a:cs typeface="Inter"/>
                <a:sym typeface="Inter"/>
              </a:defRPr>
            </a:lvl1pPr>
          </a:lstStyle>
          <a:p>
            <a:pPr/>
            <a:r>
              <a:t>Impersonated Social Media account</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56" name="Image 0" descr="Image 0"/>
          <p:cNvPicPr>
            <a:picLocks noChangeAspect="1"/>
          </p:cNvPicPr>
          <p:nvPr/>
        </p:nvPicPr>
        <p:blipFill>
          <a:blip r:embed="rId2">
            <a:extLst/>
          </a:blip>
          <a:stretch>
            <a:fillRect/>
          </a:stretch>
        </p:blipFill>
        <p:spPr>
          <a:xfrm>
            <a:off x="793790" y="752593"/>
            <a:ext cx="13042821" cy="6106240"/>
          </a:xfrm>
          <a:prstGeom prst="rect">
            <a:avLst/>
          </a:prstGeom>
          <a:ln w="12700">
            <a:miter lim="400000"/>
          </a:ln>
        </p:spPr>
      </p:pic>
      <p:sp>
        <p:nvSpPr>
          <p:cNvPr id="257" name="Text 0"/>
          <p:cNvSpPr txBox="1"/>
          <p:nvPr/>
        </p:nvSpPr>
        <p:spPr>
          <a:xfrm>
            <a:off x="793790" y="7113984"/>
            <a:ext cx="3560261" cy="33413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Char char="•"/>
              <a:defRPr sz="1700">
                <a:solidFill>
                  <a:srgbClr val="272525"/>
                </a:solidFill>
                <a:latin typeface="Inter"/>
                <a:ea typeface="Inter"/>
                <a:cs typeface="Inter"/>
                <a:sym typeface="Inter"/>
              </a:defRPr>
            </a:lvl1pPr>
          </a:lstStyle>
          <a:p>
            <a:pPr/>
            <a:r>
              <a:t>Credentials exposed in the github</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59" name="Image 0" descr="Image 0"/>
          <p:cNvPicPr>
            <a:picLocks noChangeAspect="1"/>
          </p:cNvPicPr>
          <p:nvPr/>
        </p:nvPicPr>
        <p:blipFill>
          <a:blip r:embed="rId2">
            <a:extLst/>
          </a:blip>
          <a:stretch>
            <a:fillRect/>
          </a:stretch>
        </p:blipFill>
        <p:spPr>
          <a:xfrm>
            <a:off x="793790" y="683775"/>
            <a:ext cx="11086387" cy="6336745"/>
          </a:xfrm>
          <a:prstGeom prst="rect">
            <a:avLst/>
          </a:prstGeom>
          <a:ln w="12700">
            <a:miter lim="400000"/>
          </a:ln>
        </p:spPr>
      </p:pic>
      <p:sp>
        <p:nvSpPr>
          <p:cNvPr id="260" name="Text 0"/>
          <p:cNvSpPr txBox="1"/>
          <p:nvPr/>
        </p:nvSpPr>
        <p:spPr>
          <a:xfrm>
            <a:off x="793790" y="7237332"/>
            <a:ext cx="1149878" cy="28765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400"/>
              </a:lnSpc>
              <a:buSzPct val="100000"/>
              <a:buChar char="•"/>
              <a:defRPr sz="1500">
                <a:solidFill>
                  <a:srgbClr val="272525"/>
                </a:solidFill>
                <a:latin typeface="Inter"/>
                <a:ea typeface="Inter"/>
                <a:cs typeface="Inter"/>
                <a:sym typeface="Inter"/>
              </a:defRPr>
            </a:lvl1pPr>
          </a:lstStyle>
          <a:p>
            <a:pPr/>
            <a:r>
              <a:t>Fake app</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62" name="Image 0" descr="Image 0"/>
          <p:cNvPicPr>
            <a:picLocks noChangeAspect="1"/>
          </p:cNvPicPr>
          <p:nvPr/>
        </p:nvPicPr>
        <p:blipFill>
          <a:blip r:embed="rId2">
            <a:extLst/>
          </a:blip>
          <a:stretch>
            <a:fillRect/>
          </a:stretch>
        </p:blipFill>
        <p:spPr>
          <a:xfrm>
            <a:off x="9144000" y="0"/>
            <a:ext cx="5486400" cy="8229600"/>
          </a:xfrm>
          <a:prstGeom prst="rect">
            <a:avLst/>
          </a:prstGeom>
          <a:ln w="12700">
            <a:miter lim="400000"/>
          </a:ln>
        </p:spPr>
      </p:pic>
      <p:sp>
        <p:nvSpPr>
          <p:cNvPr id="263" name="Text 0"/>
          <p:cNvSpPr txBox="1"/>
          <p:nvPr/>
        </p:nvSpPr>
        <p:spPr>
          <a:xfrm>
            <a:off x="777953" y="612933"/>
            <a:ext cx="6971743" cy="67423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5400"/>
              </a:lnSpc>
              <a:defRPr b="1" sz="4300">
                <a:solidFill>
                  <a:srgbClr val="F95F88"/>
                </a:solidFill>
                <a:latin typeface="Petrona Bold"/>
                <a:ea typeface="Petrona Bold"/>
                <a:cs typeface="Petrona Bold"/>
                <a:sym typeface="Petrona Bold"/>
              </a:defRPr>
            </a:lvl1pPr>
          </a:lstStyle>
          <a:p>
            <a:pPr/>
            <a:r>
              <a:t>Strategic Monitoring Areas</a:t>
            </a:r>
          </a:p>
        </p:txBody>
      </p:sp>
      <p:pic>
        <p:nvPicPr>
          <p:cNvPr id="264" name="Image 1" descr="Image 1"/>
          <p:cNvPicPr>
            <a:picLocks noChangeAspect="1"/>
          </p:cNvPicPr>
          <p:nvPr/>
        </p:nvPicPr>
        <p:blipFill>
          <a:blip r:embed="rId3">
            <a:extLst/>
          </a:blip>
          <a:stretch>
            <a:fillRect/>
          </a:stretch>
        </p:blipFill>
        <p:spPr>
          <a:xfrm>
            <a:off x="777954" y="1600676"/>
            <a:ext cx="1000245" cy="1503999"/>
          </a:xfrm>
          <a:prstGeom prst="rect">
            <a:avLst/>
          </a:prstGeom>
          <a:ln w="12700">
            <a:miter lim="400000"/>
          </a:ln>
        </p:spPr>
      </p:pic>
      <p:sp>
        <p:nvSpPr>
          <p:cNvPr id="265" name="Text 1"/>
          <p:cNvSpPr txBox="1"/>
          <p:nvPr/>
        </p:nvSpPr>
        <p:spPr>
          <a:xfrm>
            <a:off x="2078235" y="1800700"/>
            <a:ext cx="3203855" cy="33565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100">
                <a:solidFill>
                  <a:srgbClr val="272525"/>
                </a:solidFill>
                <a:latin typeface="Petrona Bold"/>
                <a:ea typeface="Petrona Bold"/>
                <a:cs typeface="Petrona Bold"/>
                <a:sym typeface="Petrona Bold"/>
              </a:defRPr>
            </a:lvl1pPr>
          </a:lstStyle>
          <a:p>
            <a:pPr/>
            <a:r>
              <a:t>Fake Mobile Applications</a:t>
            </a:r>
          </a:p>
        </p:txBody>
      </p:sp>
      <p:sp>
        <p:nvSpPr>
          <p:cNvPr id="266" name="Text 2"/>
          <p:cNvSpPr txBox="1"/>
          <p:nvPr/>
        </p:nvSpPr>
        <p:spPr>
          <a:xfrm>
            <a:off x="2078235" y="2264568"/>
            <a:ext cx="6287811" cy="61531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272525"/>
                </a:solidFill>
                <a:latin typeface="Inter"/>
                <a:ea typeface="Inter"/>
                <a:cs typeface="Inter"/>
                <a:sym typeface="Inter"/>
              </a:defRPr>
            </a:lvl1pPr>
          </a:lstStyle>
          <a:p>
            <a:pPr/>
            <a:r>
              <a:t>Detection of fraudulent apps imitating client branding to steal user data or damage reputation.</a:t>
            </a:r>
          </a:p>
        </p:txBody>
      </p:sp>
      <p:pic>
        <p:nvPicPr>
          <p:cNvPr id="267" name="Image 2" descr="Image 2"/>
          <p:cNvPicPr>
            <a:picLocks noChangeAspect="1"/>
          </p:cNvPicPr>
          <p:nvPr/>
        </p:nvPicPr>
        <p:blipFill>
          <a:blip r:embed="rId4">
            <a:extLst/>
          </a:blip>
          <a:stretch>
            <a:fillRect/>
          </a:stretch>
        </p:blipFill>
        <p:spPr>
          <a:xfrm>
            <a:off x="777954" y="3104674"/>
            <a:ext cx="1000245" cy="1503999"/>
          </a:xfrm>
          <a:prstGeom prst="rect">
            <a:avLst/>
          </a:prstGeom>
          <a:ln w="12700">
            <a:miter lim="400000"/>
          </a:ln>
        </p:spPr>
      </p:pic>
      <p:sp>
        <p:nvSpPr>
          <p:cNvPr id="268" name="Text 3"/>
          <p:cNvSpPr txBox="1"/>
          <p:nvPr/>
        </p:nvSpPr>
        <p:spPr>
          <a:xfrm>
            <a:off x="2078235" y="3304699"/>
            <a:ext cx="3589711" cy="33565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100">
                <a:solidFill>
                  <a:srgbClr val="272525"/>
                </a:solidFill>
                <a:latin typeface="Petrona Bold"/>
                <a:ea typeface="Petrona Bold"/>
                <a:cs typeface="Petrona Bold"/>
                <a:sym typeface="Petrona Bold"/>
              </a:defRPr>
            </a:lvl1pPr>
          </a:lstStyle>
          <a:p>
            <a:pPr/>
            <a:r>
              <a:t>Fake Social Media Accounts</a:t>
            </a:r>
          </a:p>
        </p:txBody>
      </p:sp>
      <p:sp>
        <p:nvSpPr>
          <p:cNvPr id="269" name="Text 4"/>
          <p:cNvSpPr txBox="1"/>
          <p:nvPr/>
        </p:nvSpPr>
        <p:spPr>
          <a:xfrm>
            <a:off x="2078235" y="3768566"/>
            <a:ext cx="6287811" cy="6153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272525"/>
                </a:solidFill>
                <a:latin typeface="Inter"/>
                <a:ea typeface="Inter"/>
                <a:cs typeface="Inter"/>
                <a:sym typeface="Inter"/>
              </a:defRPr>
            </a:lvl1pPr>
          </a:lstStyle>
          <a:p>
            <a:pPr/>
            <a:r>
              <a:t>Identification and takedown of impostor profiles used for phishing or misinformation campaigns.</a:t>
            </a:r>
          </a:p>
        </p:txBody>
      </p:sp>
      <p:pic>
        <p:nvPicPr>
          <p:cNvPr id="270" name="Image 3" descr="Image 3"/>
          <p:cNvPicPr>
            <a:picLocks noChangeAspect="1"/>
          </p:cNvPicPr>
          <p:nvPr/>
        </p:nvPicPr>
        <p:blipFill>
          <a:blip r:embed="rId5">
            <a:extLst/>
          </a:blip>
          <a:stretch>
            <a:fillRect/>
          </a:stretch>
        </p:blipFill>
        <p:spPr>
          <a:xfrm>
            <a:off x="777954" y="4608671"/>
            <a:ext cx="1000245" cy="1503999"/>
          </a:xfrm>
          <a:prstGeom prst="rect">
            <a:avLst/>
          </a:prstGeom>
          <a:ln w="12700">
            <a:miter lim="400000"/>
          </a:ln>
        </p:spPr>
      </p:pic>
      <p:sp>
        <p:nvSpPr>
          <p:cNvPr id="271" name="Text 5"/>
          <p:cNvSpPr txBox="1"/>
          <p:nvPr/>
        </p:nvSpPr>
        <p:spPr>
          <a:xfrm>
            <a:off x="2078235" y="4808696"/>
            <a:ext cx="2368985" cy="33565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100">
                <a:solidFill>
                  <a:srgbClr val="272525"/>
                </a:solidFill>
                <a:latin typeface="Petrona Bold"/>
                <a:ea typeface="Petrona Bold"/>
                <a:cs typeface="Petrona Bold"/>
                <a:sym typeface="Petrona Bold"/>
              </a:defRPr>
            </a:lvl1pPr>
          </a:lstStyle>
          <a:p>
            <a:pPr/>
            <a:r>
              <a:t>Code Repositories</a:t>
            </a:r>
          </a:p>
        </p:txBody>
      </p:sp>
      <p:sp>
        <p:nvSpPr>
          <p:cNvPr id="272" name="Text 6"/>
          <p:cNvSpPr txBox="1"/>
          <p:nvPr/>
        </p:nvSpPr>
        <p:spPr>
          <a:xfrm>
            <a:off x="2078235" y="5272563"/>
            <a:ext cx="6287811" cy="61531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272525"/>
                </a:solidFill>
                <a:latin typeface="Inter"/>
                <a:ea typeface="Inter"/>
                <a:cs typeface="Inter"/>
                <a:sym typeface="Inter"/>
              </a:defRPr>
            </a:lvl1pPr>
          </a:lstStyle>
          <a:p>
            <a:pPr/>
            <a:r>
              <a:t>Discovery of leaked credentials, tokens, and sensitive code posted publicly on platforms like GitHub.</a:t>
            </a:r>
          </a:p>
        </p:txBody>
      </p:sp>
      <p:pic>
        <p:nvPicPr>
          <p:cNvPr id="273" name="Image 4" descr="Image 4"/>
          <p:cNvPicPr>
            <a:picLocks noChangeAspect="1"/>
          </p:cNvPicPr>
          <p:nvPr/>
        </p:nvPicPr>
        <p:blipFill>
          <a:blip r:embed="rId6">
            <a:extLst/>
          </a:blip>
          <a:stretch>
            <a:fillRect/>
          </a:stretch>
        </p:blipFill>
        <p:spPr>
          <a:xfrm>
            <a:off x="777954" y="6112669"/>
            <a:ext cx="1000245" cy="1503999"/>
          </a:xfrm>
          <a:prstGeom prst="rect">
            <a:avLst/>
          </a:prstGeom>
          <a:ln w="12700">
            <a:miter lim="400000"/>
          </a:ln>
        </p:spPr>
      </p:pic>
      <p:sp>
        <p:nvSpPr>
          <p:cNvPr id="274" name="Text 7"/>
          <p:cNvSpPr txBox="1"/>
          <p:nvPr/>
        </p:nvSpPr>
        <p:spPr>
          <a:xfrm>
            <a:off x="2078235" y="6312694"/>
            <a:ext cx="3539444" cy="33565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b="1" sz="2100">
                <a:solidFill>
                  <a:srgbClr val="272525"/>
                </a:solidFill>
                <a:latin typeface="Petrona Bold"/>
                <a:ea typeface="Petrona Bold"/>
                <a:cs typeface="Petrona Bold"/>
                <a:sym typeface="Petrona Bold"/>
              </a:defRPr>
            </a:lvl1pPr>
          </a:lstStyle>
          <a:p>
            <a:pPr/>
            <a:r>
              <a:t>Keyword &amp; Threat Mentions</a:t>
            </a:r>
          </a:p>
        </p:txBody>
      </p:sp>
      <p:sp>
        <p:nvSpPr>
          <p:cNvPr id="275" name="Text 8"/>
          <p:cNvSpPr txBox="1"/>
          <p:nvPr/>
        </p:nvSpPr>
        <p:spPr>
          <a:xfrm>
            <a:off x="2078235" y="6776560"/>
            <a:ext cx="6287811" cy="61531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500"/>
              </a:lnSpc>
              <a:defRPr sz="1500">
                <a:solidFill>
                  <a:srgbClr val="272525"/>
                </a:solidFill>
                <a:latin typeface="Inter"/>
                <a:ea typeface="Inter"/>
                <a:cs typeface="Inter"/>
                <a:sym typeface="Inter"/>
              </a:defRPr>
            </a:lvl1pPr>
          </a:lstStyle>
          <a:p>
            <a:pPr/>
            <a:r>
              <a:t>Tracking negative SEO campaigns, spoofed domains, and brand threats on dark web, forums, and social sites.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77" name="Image 0" descr="Image 0"/>
          <p:cNvPicPr>
            <a:picLocks noChangeAspect="1"/>
          </p:cNvPicPr>
          <p:nvPr/>
        </p:nvPicPr>
        <p:blipFill>
          <a:blip r:embed="rId2">
            <a:extLst/>
          </a:blip>
          <a:stretch>
            <a:fillRect/>
          </a:stretch>
        </p:blipFill>
        <p:spPr>
          <a:xfrm>
            <a:off x="0" y="0"/>
            <a:ext cx="14630400" cy="2835236"/>
          </a:xfrm>
          <a:prstGeom prst="rect">
            <a:avLst/>
          </a:prstGeom>
          <a:ln w="12700">
            <a:miter lim="400000"/>
          </a:ln>
        </p:spPr>
      </p:pic>
      <p:sp>
        <p:nvSpPr>
          <p:cNvPr id="278" name="Text 0"/>
          <p:cNvSpPr txBox="1"/>
          <p:nvPr/>
        </p:nvSpPr>
        <p:spPr>
          <a:xfrm>
            <a:off x="793790" y="3931206"/>
            <a:ext cx="7100175" cy="7628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6100"/>
              </a:lnSpc>
              <a:defRPr b="1" sz="4900">
                <a:solidFill>
                  <a:srgbClr val="F95F88"/>
                </a:solidFill>
                <a:latin typeface="Petrona Bold"/>
                <a:ea typeface="Petrona Bold"/>
                <a:cs typeface="Petrona Bold"/>
                <a:sym typeface="Petrona Bold"/>
              </a:defRPr>
            </a:lvl1pPr>
          </a:lstStyle>
          <a:p>
            <a:pPr/>
            <a:r>
              <a:t>Brand Threat Highlights</a:t>
            </a:r>
          </a:p>
        </p:txBody>
      </p:sp>
      <p:sp>
        <p:nvSpPr>
          <p:cNvPr id="279" name="Shape 1"/>
          <p:cNvSpPr/>
          <p:nvPr/>
        </p:nvSpPr>
        <p:spPr>
          <a:xfrm>
            <a:off x="793790" y="5050987"/>
            <a:ext cx="510303" cy="510303"/>
          </a:xfrm>
          <a:prstGeom prst="roundRect">
            <a:avLst>
              <a:gd name="adj" fmla="val 18669"/>
            </a:avLst>
          </a:prstGeom>
          <a:solidFill>
            <a:srgbClr val="E0D7F4"/>
          </a:solidFill>
          <a:ln w="7620">
            <a:solidFill>
              <a:srgbClr val="C6BDDA"/>
            </a:solidFill>
          </a:ln>
        </p:spPr>
        <p:txBody>
          <a:bodyPr lIns="45719" rIns="45719"/>
          <a:lstStyle/>
          <a:p>
            <a:pPr/>
          </a:p>
        </p:txBody>
      </p:sp>
      <p:sp>
        <p:nvSpPr>
          <p:cNvPr id="280" name="Text 2"/>
          <p:cNvSpPr txBox="1"/>
          <p:nvPr/>
        </p:nvSpPr>
        <p:spPr>
          <a:xfrm>
            <a:off x="1530905" y="5128855"/>
            <a:ext cx="3015458" cy="37489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000"/>
              </a:lnSpc>
              <a:defRPr b="1" sz="2400">
                <a:solidFill>
                  <a:srgbClr val="272525"/>
                </a:solidFill>
                <a:latin typeface="Petrona Bold"/>
                <a:ea typeface="Petrona Bold"/>
                <a:cs typeface="Petrona Bold"/>
                <a:sym typeface="Petrona Bold"/>
              </a:defRPr>
            </a:lvl1pPr>
          </a:lstStyle>
          <a:p>
            <a:pPr/>
            <a:r>
              <a:t>Phishing Mobile App</a:t>
            </a:r>
          </a:p>
        </p:txBody>
      </p:sp>
      <p:sp>
        <p:nvSpPr>
          <p:cNvPr id="281" name="Text 3"/>
          <p:cNvSpPr txBox="1"/>
          <p:nvPr/>
        </p:nvSpPr>
        <p:spPr>
          <a:xfrm>
            <a:off x="1530906" y="5654873"/>
            <a:ext cx="3421499" cy="10453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800"/>
              </a:lnSpc>
              <a:defRPr sz="1700">
                <a:solidFill>
                  <a:srgbClr val="272525"/>
                </a:solidFill>
                <a:latin typeface="Inter"/>
                <a:ea typeface="Inter"/>
                <a:cs typeface="Inter"/>
                <a:sym typeface="Inter"/>
              </a:defRPr>
            </a:lvl1pPr>
          </a:lstStyle>
          <a:p>
            <a:pPr/>
            <a:r>
              <a:t>A fraudulent app replicating a banking client’s legitimate interface to harvest credentials.</a:t>
            </a:r>
          </a:p>
        </p:txBody>
      </p:sp>
      <p:sp>
        <p:nvSpPr>
          <p:cNvPr id="282" name="Shape 4"/>
          <p:cNvSpPr/>
          <p:nvPr/>
        </p:nvSpPr>
        <p:spPr>
          <a:xfrm>
            <a:off x="5235892" y="5050987"/>
            <a:ext cx="510303" cy="510303"/>
          </a:xfrm>
          <a:prstGeom prst="roundRect">
            <a:avLst>
              <a:gd name="adj" fmla="val 18669"/>
            </a:avLst>
          </a:prstGeom>
          <a:solidFill>
            <a:srgbClr val="E0D7F4"/>
          </a:solidFill>
          <a:ln w="7620">
            <a:solidFill>
              <a:srgbClr val="C6BDDA"/>
            </a:solidFill>
          </a:ln>
        </p:spPr>
        <p:txBody>
          <a:bodyPr lIns="45719" rIns="45719"/>
          <a:lstStyle/>
          <a:p>
            <a:pPr/>
          </a:p>
        </p:txBody>
      </p:sp>
      <p:sp>
        <p:nvSpPr>
          <p:cNvPr id="283" name="Text 5"/>
          <p:cNvSpPr txBox="1"/>
          <p:nvPr/>
        </p:nvSpPr>
        <p:spPr>
          <a:xfrm>
            <a:off x="5973007" y="5128855"/>
            <a:ext cx="3337968" cy="37489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000"/>
              </a:lnSpc>
              <a:defRPr b="1" sz="2400">
                <a:solidFill>
                  <a:srgbClr val="272525"/>
                </a:solidFill>
                <a:latin typeface="Petrona Bold"/>
                <a:ea typeface="Petrona Bold"/>
                <a:cs typeface="Petrona Bold"/>
                <a:sym typeface="Petrona Bold"/>
              </a:defRPr>
            </a:lvl1pPr>
          </a:lstStyle>
          <a:p>
            <a:pPr/>
            <a:r>
              <a:t>Fake LinkedIn Account</a:t>
            </a:r>
          </a:p>
        </p:txBody>
      </p:sp>
      <p:sp>
        <p:nvSpPr>
          <p:cNvPr id="284" name="Text 6"/>
          <p:cNvSpPr txBox="1"/>
          <p:nvPr/>
        </p:nvSpPr>
        <p:spPr>
          <a:xfrm>
            <a:off x="5973007" y="5654873"/>
            <a:ext cx="3421500" cy="10453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800"/>
              </a:lnSpc>
              <a:defRPr sz="1700">
                <a:solidFill>
                  <a:srgbClr val="272525"/>
                </a:solidFill>
                <a:latin typeface="Inter"/>
                <a:ea typeface="Inter"/>
                <a:cs typeface="Inter"/>
                <a:sym typeface="Inter"/>
              </a:defRPr>
            </a:lvl1pPr>
          </a:lstStyle>
          <a:p>
            <a:pPr/>
            <a:r>
              <a:t>Impostor profile targeting internal employees for social engineering purposes.</a:t>
            </a:r>
          </a:p>
        </p:txBody>
      </p:sp>
      <p:sp>
        <p:nvSpPr>
          <p:cNvPr id="285" name="Shape 7"/>
          <p:cNvSpPr/>
          <p:nvPr/>
        </p:nvSpPr>
        <p:spPr>
          <a:xfrm>
            <a:off x="9677995" y="5050987"/>
            <a:ext cx="510303" cy="510303"/>
          </a:xfrm>
          <a:prstGeom prst="roundRect">
            <a:avLst>
              <a:gd name="adj" fmla="val 18669"/>
            </a:avLst>
          </a:prstGeom>
          <a:solidFill>
            <a:srgbClr val="E0D7F4"/>
          </a:solidFill>
          <a:ln w="7620">
            <a:solidFill>
              <a:srgbClr val="C6BDDA"/>
            </a:solidFill>
          </a:ln>
        </p:spPr>
        <p:txBody>
          <a:bodyPr lIns="45719" rIns="45719"/>
          <a:lstStyle/>
          <a:p>
            <a:pPr/>
          </a:p>
        </p:txBody>
      </p:sp>
      <p:sp>
        <p:nvSpPr>
          <p:cNvPr id="286" name="Text 8"/>
          <p:cNvSpPr txBox="1"/>
          <p:nvPr/>
        </p:nvSpPr>
        <p:spPr>
          <a:xfrm>
            <a:off x="10415110" y="5128855"/>
            <a:ext cx="3421500" cy="75589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000"/>
              </a:lnSpc>
              <a:defRPr b="1" sz="2400">
                <a:solidFill>
                  <a:srgbClr val="272525"/>
                </a:solidFill>
                <a:latin typeface="Petrona Bold"/>
                <a:ea typeface="Petrona Bold"/>
                <a:cs typeface="Petrona Bold"/>
                <a:sym typeface="Petrona Bold"/>
              </a:defRPr>
            </a:lvl1pPr>
          </a:lstStyle>
          <a:p>
            <a:pPr/>
            <a:r>
              <a:t>DMCA Takedown Actions</a:t>
            </a:r>
          </a:p>
        </p:txBody>
      </p:sp>
      <p:sp>
        <p:nvSpPr>
          <p:cNvPr id="287" name="Text 9"/>
          <p:cNvSpPr txBox="1"/>
          <p:nvPr/>
        </p:nvSpPr>
        <p:spPr>
          <a:xfrm>
            <a:off x="10415110" y="6044803"/>
            <a:ext cx="3421500" cy="10453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800"/>
              </a:lnSpc>
              <a:defRPr sz="1700">
                <a:solidFill>
                  <a:srgbClr val="272525"/>
                </a:solidFill>
                <a:latin typeface="Inter"/>
                <a:ea typeface="Inter"/>
                <a:cs typeface="Inter"/>
                <a:sym typeface="Inter"/>
              </a:defRPr>
            </a:lvl1pPr>
          </a:lstStyle>
          <a:p>
            <a:pPr/>
            <a:r>
              <a:t>Successful removal of copyright-infringing apps threatening brand authenticity.</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9" name="Text 0"/>
          <p:cNvSpPr txBox="1"/>
          <p:nvPr/>
        </p:nvSpPr>
        <p:spPr>
          <a:xfrm>
            <a:off x="793790" y="1215628"/>
            <a:ext cx="9415872" cy="76287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6100"/>
              </a:lnSpc>
              <a:defRPr b="1" sz="4900">
                <a:solidFill>
                  <a:srgbClr val="F95F88"/>
                </a:solidFill>
                <a:latin typeface="Petrona Bold"/>
                <a:ea typeface="Petrona Bold"/>
                <a:cs typeface="Petrona Bold"/>
                <a:sym typeface="Petrona Bold"/>
              </a:defRPr>
            </a:lvl1pPr>
          </a:lstStyle>
          <a:p>
            <a:pPr/>
            <a:r>
              <a:t>Proof of Concept (PoC) Reports</a:t>
            </a:r>
          </a:p>
        </p:txBody>
      </p:sp>
      <p:sp>
        <p:nvSpPr>
          <p:cNvPr id="290" name="Text 1"/>
          <p:cNvSpPr txBox="1"/>
          <p:nvPr/>
        </p:nvSpPr>
        <p:spPr>
          <a:xfrm>
            <a:off x="1782702" y="2593419"/>
            <a:ext cx="2909790" cy="37489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r">
              <a:lnSpc>
                <a:spcPts val="3000"/>
              </a:lnSpc>
              <a:defRPr b="1" sz="2400">
                <a:solidFill>
                  <a:srgbClr val="272525"/>
                </a:solidFill>
                <a:latin typeface="Petrona Bold"/>
                <a:ea typeface="Petrona Bold"/>
                <a:cs typeface="Petrona Bold"/>
                <a:sym typeface="Petrona Bold"/>
              </a:defRPr>
            </a:lvl1pPr>
          </a:lstStyle>
          <a:p>
            <a:pPr/>
            <a:r>
              <a:t>Executive Summary</a:t>
            </a:r>
          </a:p>
        </p:txBody>
      </p:sp>
      <p:sp>
        <p:nvSpPr>
          <p:cNvPr id="291" name="Text 2"/>
          <p:cNvSpPr txBox="1"/>
          <p:nvPr/>
        </p:nvSpPr>
        <p:spPr>
          <a:xfrm>
            <a:off x="793790" y="3119438"/>
            <a:ext cx="3898702" cy="6897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ts val="2800"/>
              </a:lnSpc>
              <a:defRPr sz="1700">
                <a:solidFill>
                  <a:srgbClr val="272525"/>
                </a:solidFill>
                <a:latin typeface="Inter"/>
                <a:ea typeface="Inter"/>
                <a:cs typeface="Inter"/>
                <a:sym typeface="Inter"/>
              </a:defRPr>
            </a:lvl1pPr>
          </a:lstStyle>
          <a:p>
            <a:pPr/>
            <a:r>
              <a:t>Overview of threat discovery and identification techniques.</a:t>
            </a:r>
          </a:p>
        </p:txBody>
      </p:sp>
      <p:pic>
        <p:nvPicPr>
          <p:cNvPr id="292" name="Image 0" descr="Image 0"/>
          <p:cNvPicPr>
            <a:picLocks noChangeAspect="1"/>
          </p:cNvPicPr>
          <p:nvPr/>
        </p:nvPicPr>
        <p:blipFill>
          <a:blip r:embed="rId2">
            <a:extLst/>
          </a:blip>
          <a:stretch>
            <a:fillRect/>
          </a:stretch>
        </p:blipFill>
        <p:spPr>
          <a:xfrm>
            <a:off x="5032652" y="2448878"/>
            <a:ext cx="4564976" cy="4564975"/>
          </a:xfrm>
          <a:prstGeom prst="rect">
            <a:avLst/>
          </a:prstGeom>
          <a:ln w="12700">
            <a:miter lim="400000"/>
          </a:ln>
        </p:spPr>
      </p:pic>
      <p:sp>
        <p:nvSpPr>
          <p:cNvPr id="293" name="Text 3"/>
          <p:cNvSpPr txBox="1"/>
          <p:nvPr/>
        </p:nvSpPr>
        <p:spPr>
          <a:xfrm>
            <a:off x="6226731" y="3211948"/>
            <a:ext cx="196342" cy="50266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200"/>
              </a:lnSpc>
              <a:defRPr b="1" sz="2600">
                <a:solidFill>
                  <a:srgbClr val="272525"/>
                </a:solidFill>
                <a:latin typeface="Petrona Bold"/>
                <a:ea typeface="Petrona Bold"/>
                <a:cs typeface="Petrona Bold"/>
                <a:sym typeface="Petrona Bold"/>
              </a:defRPr>
            </a:lvl1pPr>
          </a:lstStyle>
          <a:p>
            <a:pPr/>
            <a:r>
              <a:t>1</a:t>
            </a:r>
          </a:p>
        </p:txBody>
      </p:sp>
      <p:sp>
        <p:nvSpPr>
          <p:cNvPr id="294" name="Text 4"/>
          <p:cNvSpPr txBox="1"/>
          <p:nvPr/>
        </p:nvSpPr>
        <p:spPr>
          <a:xfrm>
            <a:off x="9937790" y="2593419"/>
            <a:ext cx="3552875" cy="37489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000"/>
              </a:lnSpc>
              <a:defRPr b="1" sz="2400">
                <a:solidFill>
                  <a:srgbClr val="272525"/>
                </a:solidFill>
                <a:latin typeface="Petrona Bold"/>
                <a:ea typeface="Petrona Bold"/>
                <a:cs typeface="Petrona Bold"/>
                <a:sym typeface="Petrona Bold"/>
              </a:defRPr>
            </a:lvl1pPr>
          </a:lstStyle>
          <a:p>
            <a:pPr/>
            <a:r>
              <a:t>Organisation Risk Score</a:t>
            </a:r>
          </a:p>
        </p:txBody>
      </p:sp>
      <p:sp>
        <p:nvSpPr>
          <p:cNvPr id="295" name="Text 5"/>
          <p:cNvSpPr txBox="1"/>
          <p:nvPr/>
        </p:nvSpPr>
        <p:spPr>
          <a:xfrm>
            <a:off x="9937790" y="3119438"/>
            <a:ext cx="3898822" cy="6897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800"/>
              </a:lnSpc>
              <a:defRPr sz="1700">
                <a:solidFill>
                  <a:srgbClr val="272525"/>
                </a:solidFill>
                <a:latin typeface="Inter"/>
                <a:ea typeface="Inter"/>
                <a:cs typeface="Inter"/>
                <a:sym typeface="Inter"/>
              </a:defRPr>
            </a:lvl1pPr>
          </a:lstStyle>
          <a:p>
            <a:pPr/>
            <a:r>
              <a:t>Assessment of threat severity and potential business impact.</a:t>
            </a:r>
          </a:p>
        </p:txBody>
      </p:sp>
      <p:pic>
        <p:nvPicPr>
          <p:cNvPr id="296" name="Image 1" descr="Image 1"/>
          <p:cNvPicPr>
            <a:picLocks noChangeAspect="1"/>
          </p:cNvPicPr>
          <p:nvPr/>
        </p:nvPicPr>
        <p:blipFill>
          <a:blip r:embed="rId3">
            <a:extLst/>
          </a:blip>
          <a:stretch>
            <a:fillRect/>
          </a:stretch>
        </p:blipFill>
        <p:spPr>
          <a:xfrm>
            <a:off x="5032652" y="2448878"/>
            <a:ext cx="4564976" cy="4564975"/>
          </a:xfrm>
          <a:prstGeom prst="rect">
            <a:avLst/>
          </a:prstGeom>
          <a:ln w="12700">
            <a:miter lim="400000"/>
          </a:ln>
        </p:spPr>
      </p:pic>
      <p:sp>
        <p:nvSpPr>
          <p:cNvPr id="297" name="Text 6"/>
          <p:cNvSpPr txBox="1"/>
          <p:nvPr/>
        </p:nvSpPr>
        <p:spPr>
          <a:xfrm>
            <a:off x="8452604" y="3600450"/>
            <a:ext cx="196342" cy="50266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200"/>
              </a:lnSpc>
              <a:defRPr b="1" sz="2600">
                <a:solidFill>
                  <a:srgbClr val="272525"/>
                </a:solidFill>
                <a:latin typeface="Petrona Bold"/>
                <a:ea typeface="Petrona Bold"/>
                <a:cs typeface="Petrona Bold"/>
                <a:sym typeface="Petrona Bold"/>
              </a:defRPr>
            </a:lvl1pPr>
          </a:lstStyle>
          <a:p>
            <a:pPr/>
            <a:r>
              <a:t>2</a:t>
            </a:r>
          </a:p>
        </p:txBody>
      </p:sp>
      <p:sp>
        <p:nvSpPr>
          <p:cNvPr id="298" name="Text 7"/>
          <p:cNvSpPr txBox="1"/>
          <p:nvPr/>
        </p:nvSpPr>
        <p:spPr>
          <a:xfrm>
            <a:off x="9937790" y="4474607"/>
            <a:ext cx="3898822" cy="113689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3000"/>
              </a:lnSpc>
              <a:defRPr b="1" sz="2400">
                <a:solidFill>
                  <a:srgbClr val="272525"/>
                </a:solidFill>
                <a:latin typeface="Petrona Bold"/>
                <a:ea typeface="Petrona Bold"/>
                <a:cs typeface="Petrona Bold"/>
                <a:sym typeface="Petrona Bold"/>
              </a:defRPr>
            </a:lvl1pPr>
          </a:lstStyle>
          <a:p>
            <a:pPr/>
            <a:r>
              <a:t>Detailed Findings along with mitigations techniques</a:t>
            </a:r>
          </a:p>
        </p:txBody>
      </p:sp>
      <p:sp>
        <p:nvSpPr>
          <p:cNvPr id="299" name="Text 8"/>
          <p:cNvSpPr txBox="1"/>
          <p:nvPr/>
        </p:nvSpPr>
        <p:spPr>
          <a:xfrm>
            <a:off x="9937790" y="5780484"/>
            <a:ext cx="3898822" cy="10453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800"/>
              </a:lnSpc>
              <a:defRPr sz="1700">
                <a:solidFill>
                  <a:srgbClr val="272525"/>
                </a:solidFill>
                <a:latin typeface="Inter"/>
                <a:ea typeface="Inter"/>
                <a:cs typeface="Inter"/>
                <a:sym typeface="Inter"/>
              </a:defRPr>
            </a:lvl1pPr>
          </a:lstStyle>
          <a:p>
            <a:pPr/>
            <a:r>
              <a:t>Comprehensive scan results exposing security gaps, especially in API implementations.</a:t>
            </a:r>
          </a:p>
        </p:txBody>
      </p:sp>
      <p:pic>
        <p:nvPicPr>
          <p:cNvPr id="300" name="Image 2" descr="Image 2"/>
          <p:cNvPicPr>
            <a:picLocks noChangeAspect="1"/>
          </p:cNvPicPr>
          <p:nvPr/>
        </p:nvPicPr>
        <p:blipFill>
          <a:blip r:embed="rId4">
            <a:extLst/>
          </a:blip>
          <a:stretch>
            <a:fillRect/>
          </a:stretch>
        </p:blipFill>
        <p:spPr>
          <a:xfrm>
            <a:off x="5032652" y="2448878"/>
            <a:ext cx="4564976" cy="4564975"/>
          </a:xfrm>
          <a:prstGeom prst="rect">
            <a:avLst/>
          </a:prstGeom>
          <a:ln w="12700">
            <a:miter lim="400000"/>
          </a:ln>
        </p:spPr>
      </p:pic>
      <p:sp>
        <p:nvSpPr>
          <p:cNvPr id="301" name="Text 9"/>
          <p:cNvSpPr txBox="1"/>
          <p:nvPr/>
        </p:nvSpPr>
        <p:spPr>
          <a:xfrm>
            <a:off x="8064103" y="5826323"/>
            <a:ext cx="196342" cy="50266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200"/>
              </a:lnSpc>
              <a:defRPr b="1" sz="2600">
                <a:solidFill>
                  <a:srgbClr val="272525"/>
                </a:solidFill>
                <a:latin typeface="Petrona Bold"/>
                <a:ea typeface="Petrona Bold"/>
                <a:cs typeface="Petrona Bold"/>
                <a:sym typeface="Petrona Bold"/>
              </a:defRPr>
            </a:lvl1pPr>
          </a:lstStyle>
          <a:p>
            <a:pPr/>
            <a:r>
              <a:t>3</a:t>
            </a:r>
          </a:p>
        </p:txBody>
      </p:sp>
      <p:sp>
        <p:nvSpPr>
          <p:cNvPr id="302" name="Text 10"/>
          <p:cNvSpPr txBox="1"/>
          <p:nvPr/>
        </p:nvSpPr>
        <p:spPr>
          <a:xfrm>
            <a:off x="919203" y="4864537"/>
            <a:ext cx="3773290" cy="37489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r">
              <a:lnSpc>
                <a:spcPts val="3000"/>
              </a:lnSpc>
              <a:defRPr b="1" sz="2400">
                <a:solidFill>
                  <a:srgbClr val="272525"/>
                </a:solidFill>
                <a:latin typeface="Petrona Bold"/>
                <a:ea typeface="Petrona Bold"/>
                <a:cs typeface="Petrona Bold"/>
                <a:sym typeface="Petrona Bold"/>
              </a:defRPr>
            </a:lvl1pPr>
          </a:lstStyle>
          <a:p>
            <a:pPr/>
            <a:r>
              <a:t>Overall Incident Summary</a:t>
            </a:r>
          </a:p>
        </p:txBody>
      </p:sp>
      <p:sp>
        <p:nvSpPr>
          <p:cNvPr id="303" name="Text 11"/>
          <p:cNvSpPr txBox="1"/>
          <p:nvPr/>
        </p:nvSpPr>
        <p:spPr>
          <a:xfrm>
            <a:off x="793790" y="5390555"/>
            <a:ext cx="3898702" cy="10453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ts val="2800"/>
              </a:lnSpc>
              <a:defRPr sz="1700">
                <a:solidFill>
                  <a:srgbClr val="272525"/>
                </a:solidFill>
                <a:latin typeface="Inter"/>
                <a:ea typeface="Inter"/>
                <a:cs typeface="Inter"/>
                <a:sym typeface="Inter"/>
              </a:defRPr>
            </a:lvl1pPr>
          </a:lstStyle>
          <a:p>
            <a:pPr/>
            <a:r>
              <a:t>Comprehensive scan results exposing security gaps, especially in API implementations.</a:t>
            </a:r>
          </a:p>
        </p:txBody>
      </p:sp>
      <p:pic>
        <p:nvPicPr>
          <p:cNvPr id="304" name="Image 3" descr="Image 3"/>
          <p:cNvPicPr>
            <a:picLocks noChangeAspect="1"/>
          </p:cNvPicPr>
          <p:nvPr/>
        </p:nvPicPr>
        <p:blipFill>
          <a:blip r:embed="rId5">
            <a:extLst/>
          </a:blip>
          <a:stretch>
            <a:fillRect/>
          </a:stretch>
        </p:blipFill>
        <p:spPr>
          <a:xfrm>
            <a:off x="5032652" y="2448878"/>
            <a:ext cx="4564976" cy="4564975"/>
          </a:xfrm>
          <a:prstGeom prst="rect">
            <a:avLst/>
          </a:prstGeom>
          <a:ln w="12700">
            <a:miter lim="400000"/>
          </a:ln>
        </p:spPr>
      </p:pic>
      <p:sp>
        <p:nvSpPr>
          <p:cNvPr id="305" name="Text 12"/>
          <p:cNvSpPr txBox="1"/>
          <p:nvPr/>
        </p:nvSpPr>
        <p:spPr>
          <a:xfrm>
            <a:off x="5838230" y="5437821"/>
            <a:ext cx="196342" cy="50266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200"/>
              </a:lnSpc>
              <a:defRPr b="1" sz="2600">
                <a:solidFill>
                  <a:srgbClr val="272525"/>
                </a:solidFill>
                <a:latin typeface="Petrona Bold"/>
                <a:ea typeface="Petrona Bold"/>
                <a:cs typeface="Petrona Bold"/>
                <a:sym typeface="Petrona Bold"/>
              </a:defRPr>
            </a:lvl1pPr>
          </a:lstStyle>
          <a:p>
            <a:pPr/>
            <a:r>
              <a:t>4</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7" name="Text 0"/>
          <p:cNvSpPr txBox="1"/>
          <p:nvPr/>
        </p:nvSpPr>
        <p:spPr>
          <a:xfrm>
            <a:off x="793790" y="2432328"/>
            <a:ext cx="6548066" cy="76287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6100"/>
              </a:lnSpc>
              <a:defRPr b="1" sz="4900">
                <a:solidFill>
                  <a:srgbClr val="F95F88"/>
                </a:solidFill>
                <a:latin typeface="Petrona Bold"/>
                <a:ea typeface="Petrona Bold"/>
                <a:cs typeface="Petrona Bold"/>
                <a:sym typeface="Petrona Bold"/>
              </a:defRPr>
            </a:lvl1pPr>
          </a:lstStyle>
          <a:p>
            <a:pPr/>
            <a:r>
              <a:t>Future Enchancement</a:t>
            </a:r>
          </a:p>
        </p:txBody>
      </p:sp>
      <p:sp>
        <p:nvSpPr>
          <p:cNvPr id="308" name="Text 1"/>
          <p:cNvSpPr txBox="1"/>
          <p:nvPr/>
        </p:nvSpPr>
        <p:spPr>
          <a:xfrm>
            <a:off x="793790" y="3665577"/>
            <a:ext cx="4952436" cy="3341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Char char="•"/>
              <a:defRPr sz="1700">
                <a:solidFill>
                  <a:srgbClr val="272525"/>
                </a:solidFill>
                <a:latin typeface="Inter"/>
                <a:ea typeface="Inter"/>
                <a:cs typeface="Inter"/>
                <a:sym typeface="Inter"/>
              </a:defRPr>
            </a:lvl1pPr>
          </a:lstStyle>
          <a:p>
            <a:pPr/>
            <a:r>
              <a:t>Expand detection to dark web threat intelligence</a:t>
            </a:r>
          </a:p>
        </p:txBody>
      </p:sp>
      <p:sp>
        <p:nvSpPr>
          <p:cNvPr id="309" name="Text 2"/>
          <p:cNvSpPr txBox="1"/>
          <p:nvPr/>
        </p:nvSpPr>
        <p:spPr>
          <a:xfrm>
            <a:off x="793790" y="4107774"/>
            <a:ext cx="4519687" cy="33413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Char char="•"/>
              <a:defRPr sz="1700">
                <a:solidFill>
                  <a:srgbClr val="272525"/>
                </a:solidFill>
                <a:latin typeface="Inter"/>
                <a:ea typeface="Inter"/>
                <a:cs typeface="Inter"/>
                <a:sym typeface="Inter"/>
              </a:defRPr>
            </a:lvl1pPr>
          </a:lstStyle>
          <a:p>
            <a:pPr/>
            <a:r>
              <a:t>Use AI for anomaly-based keyword tracking</a:t>
            </a:r>
          </a:p>
        </p:txBody>
      </p:sp>
      <p:sp>
        <p:nvSpPr>
          <p:cNvPr id="310" name="Text 3"/>
          <p:cNvSpPr txBox="1"/>
          <p:nvPr/>
        </p:nvSpPr>
        <p:spPr>
          <a:xfrm>
            <a:off x="793790" y="4549973"/>
            <a:ext cx="4627321" cy="3341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Char char="•"/>
              <a:defRPr sz="1700">
                <a:solidFill>
                  <a:srgbClr val="272525"/>
                </a:solidFill>
                <a:latin typeface="Inter"/>
                <a:ea typeface="Inter"/>
                <a:cs typeface="Inter"/>
                <a:sym typeface="Inter"/>
              </a:defRPr>
            </a:lvl1pPr>
          </a:lstStyle>
          <a:p>
            <a:pPr/>
            <a:r>
              <a:t>Integrate alerting with SIEM/SOAR platforms</a:t>
            </a:r>
          </a:p>
        </p:txBody>
      </p:sp>
      <p:sp>
        <p:nvSpPr>
          <p:cNvPr id="311" name="Text 4"/>
          <p:cNvSpPr txBox="1"/>
          <p:nvPr/>
        </p:nvSpPr>
        <p:spPr>
          <a:xfrm>
            <a:off x="793790" y="4992172"/>
            <a:ext cx="4903838" cy="3341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Char char="•"/>
              <a:defRPr sz="1700">
                <a:solidFill>
                  <a:srgbClr val="272525"/>
                </a:solidFill>
                <a:latin typeface="Inter"/>
                <a:ea typeface="Inter"/>
                <a:cs typeface="Inter"/>
                <a:sym typeface="Inter"/>
              </a:defRPr>
            </a:lvl1pPr>
          </a:lstStyle>
          <a:p>
            <a:pPr/>
            <a:r>
              <a:t>Automate DMCA and abuse report submissions</a:t>
            </a:r>
          </a:p>
        </p:txBody>
      </p:sp>
      <p:sp>
        <p:nvSpPr>
          <p:cNvPr id="312" name="Text 5"/>
          <p:cNvSpPr txBox="1"/>
          <p:nvPr/>
        </p:nvSpPr>
        <p:spPr>
          <a:xfrm>
            <a:off x="793790" y="5434369"/>
            <a:ext cx="4784397" cy="33413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Char char="•"/>
              <a:defRPr sz="1700">
                <a:solidFill>
                  <a:srgbClr val="272525"/>
                </a:solidFill>
                <a:latin typeface="Inter"/>
                <a:ea typeface="Inter"/>
                <a:cs typeface="Inter"/>
                <a:sym typeface="Inter"/>
              </a:defRPr>
            </a:lvl1pPr>
          </a:lstStyle>
          <a:p>
            <a:pPr/>
            <a:r>
              <a:t>Extend penetration testing to web/mobile apps</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4" name="Text 0"/>
          <p:cNvSpPr txBox="1"/>
          <p:nvPr/>
        </p:nvSpPr>
        <p:spPr>
          <a:xfrm>
            <a:off x="793790" y="2914174"/>
            <a:ext cx="3400711" cy="76287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6100"/>
              </a:lnSpc>
              <a:defRPr b="1" sz="4900">
                <a:solidFill>
                  <a:srgbClr val="F95F88"/>
                </a:solidFill>
                <a:latin typeface="Petrona Bold"/>
                <a:ea typeface="Petrona Bold"/>
                <a:cs typeface="Petrona Bold"/>
                <a:sym typeface="Petrona Bold"/>
              </a:defRPr>
            </a:lvl1pPr>
          </a:lstStyle>
          <a:p>
            <a:pPr/>
            <a:r>
              <a:t>Conclusion</a:t>
            </a:r>
          </a:p>
        </p:txBody>
      </p:sp>
      <p:sp>
        <p:nvSpPr>
          <p:cNvPr id="315" name="Text 1"/>
          <p:cNvSpPr txBox="1"/>
          <p:nvPr/>
        </p:nvSpPr>
        <p:spPr>
          <a:xfrm>
            <a:off x="793790" y="4147422"/>
            <a:ext cx="13042821" cy="68973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L="342900" indent="-342900">
              <a:lnSpc>
                <a:spcPts val="2800"/>
              </a:lnSpc>
              <a:buSzPct val="100000"/>
              <a:buChar char="•"/>
              <a:defRPr sz="1700">
                <a:solidFill>
                  <a:srgbClr val="272525"/>
                </a:solidFill>
                <a:latin typeface="Inter"/>
                <a:ea typeface="Inter"/>
                <a:cs typeface="Inter"/>
                <a:sym typeface="Inter"/>
              </a:defRPr>
            </a:lvl1pPr>
          </a:lstStyle>
          <a:p>
            <a:pPr/>
            <a:r>
              <a:t>Through continuous threat monitoring, vulnerability assessments, and proactive defensive actions, we have strengthened client security visibility and protected their brand integrity.</a:t>
            </a:r>
          </a:p>
        </p:txBody>
      </p:sp>
      <p:sp>
        <p:nvSpPr>
          <p:cNvPr id="316" name="Text 2"/>
          <p:cNvSpPr txBox="1"/>
          <p:nvPr/>
        </p:nvSpPr>
        <p:spPr>
          <a:xfrm>
            <a:off x="793790" y="4952524"/>
            <a:ext cx="9560341" cy="3341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Char char="•"/>
              <a:defRPr sz="1700">
                <a:solidFill>
                  <a:srgbClr val="272525"/>
                </a:solidFill>
                <a:latin typeface="Inter"/>
                <a:ea typeface="Inter"/>
                <a:cs typeface="Inter"/>
                <a:sym typeface="Inter"/>
              </a:defRPr>
            </a:lvl1pPr>
          </a:lstStyle>
          <a:p>
            <a:pPr/>
            <a:r>
              <a:t>Using scalable, adaptive methodologies ensures we stay resilient against evolving cyber threats.</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8" name="Text 0"/>
          <p:cNvSpPr txBox="1"/>
          <p:nvPr/>
        </p:nvSpPr>
        <p:spPr>
          <a:xfrm>
            <a:off x="793790" y="2653426"/>
            <a:ext cx="3368198" cy="7628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6100"/>
              </a:lnSpc>
              <a:defRPr b="1" sz="4900">
                <a:solidFill>
                  <a:srgbClr val="F95F88"/>
                </a:solidFill>
                <a:latin typeface="Petrona Bold"/>
                <a:ea typeface="Petrona Bold"/>
                <a:cs typeface="Petrona Bold"/>
                <a:sym typeface="Petrona Bold"/>
              </a:defRPr>
            </a:lvl1pPr>
          </a:lstStyle>
          <a:p>
            <a:pPr/>
            <a:r>
              <a:t>References</a:t>
            </a:r>
          </a:p>
        </p:txBody>
      </p:sp>
      <p:sp>
        <p:nvSpPr>
          <p:cNvPr id="319" name="Text 4"/>
          <p:cNvSpPr txBox="1"/>
          <p:nvPr/>
        </p:nvSpPr>
        <p:spPr>
          <a:xfrm>
            <a:off x="929145" y="3841310"/>
            <a:ext cx="10520958" cy="26933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defTabSz="457200">
              <a:defRPr sz="1866">
                <a:solidFill>
                  <a:srgbClr val="0000FF"/>
                </a:solidFill>
                <a:latin typeface="Times New Roman"/>
                <a:ea typeface="Times New Roman"/>
                <a:cs typeface="Times New Roman"/>
                <a:sym typeface="Times New Roman"/>
              </a:defRPr>
            </a:pPr>
            <a:r>
              <a:rPr>
                <a:solidFill>
                  <a:srgbClr val="000000"/>
                </a:solidFill>
              </a:rPr>
              <a:t>Takedown Guidelines:</a:t>
            </a:r>
            <a:r>
              <a:rPr>
                <a:solidFill>
                  <a:srgbClr val="0000EE"/>
                </a:solidFill>
                <a:hlinkClick r:id="rId2" invalidUrl="" action="" tgtFrame="" tooltip="" history="1" highlightClick="0" endSnd="0"/>
              </a:rPr>
              <a:t> </a:t>
            </a:r>
            <a:r>
              <a:t>https://docs.github.com/en/site-policy/content-removal-policies/dmca-takedown-policy.</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1" name="Text 0"/>
          <p:cNvSpPr txBox="1"/>
          <p:nvPr/>
        </p:nvSpPr>
        <p:spPr>
          <a:xfrm>
            <a:off x="793790" y="3095624"/>
            <a:ext cx="5971648" cy="7628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6100"/>
              </a:lnSpc>
              <a:defRPr b="1" sz="4900">
                <a:solidFill>
                  <a:srgbClr val="F95F88"/>
                </a:solidFill>
                <a:latin typeface="Petrona Bold"/>
                <a:ea typeface="Petrona Bold"/>
                <a:cs typeface="Petrona Bold"/>
                <a:sym typeface="Petrona Bold"/>
              </a:defRPr>
            </a:lvl1pPr>
          </a:lstStyle>
          <a:p>
            <a:pPr/>
            <a:r>
              <a:t>Thank You and Q&amp;A</a:t>
            </a:r>
          </a:p>
        </p:txBody>
      </p:sp>
      <p:sp>
        <p:nvSpPr>
          <p:cNvPr id="322" name="Text 1"/>
          <p:cNvSpPr txBox="1"/>
          <p:nvPr/>
        </p:nvSpPr>
        <p:spPr>
          <a:xfrm>
            <a:off x="793790" y="4328874"/>
            <a:ext cx="3103898" cy="3341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Char char="•"/>
              <a:defRPr sz="1700">
                <a:solidFill>
                  <a:srgbClr val="272525"/>
                </a:solidFill>
                <a:latin typeface="Inter"/>
                <a:ea typeface="Inter"/>
                <a:cs typeface="Inter"/>
                <a:sym typeface="Inter"/>
              </a:defRPr>
            </a:lvl1pPr>
          </a:lstStyle>
          <a:p>
            <a:pPr/>
            <a:r>
              <a:t>Thank you for your attention.</a:t>
            </a:r>
          </a:p>
        </p:txBody>
      </p:sp>
      <p:sp>
        <p:nvSpPr>
          <p:cNvPr id="323" name="Text 2"/>
          <p:cNvSpPr txBox="1"/>
          <p:nvPr/>
        </p:nvSpPr>
        <p:spPr>
          <a:xfrm>
            <a:off x="793790" y="4771073"/>
            <a:ext cx="6116272" cy="3341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marL="342900" indent="-342900">
              <a:lnSpc>
                <a:spcPts val="2800"/>
              </a:lnSpc>
              <a:buSzPct val="100000"/>
              <a:buChar char="•"/>
              <a:defRPr sz="1700">
                <a:solidFill>
                  <a:srgbClr val="272525"/>
                </a:solidFill>
                <a:latin typeface="Inter"/>
                <a:ea typeface="Inter"/>
                <a:cs typeface="Inter"/>
                <a:sym typeface="Inter"/>
              </a:defRPr>
            </a:lvl1pPr>
          </a:lstStyle>
          <a:p>
            <a:pPr/>
            <a:r>
              <a:t>Open for discussion, feedback, and collaborative next steps.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000000"/>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